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6" r:id="rId3"/>
    <p:sldId id="277" r:id="rId4"/>
    <p:sldId id="267" r:id="rId5"/>
    <p:sldId id="271" r:id="rId6"/>
    <p:sldId id="278" r:id="rId7"/>
    <p:sldId id="279" r:id="rId8"/>
    <p:sldId id="280" r:id="rId9"/>
    <p:sldId id="270" r:id="rId10"/>
    <p:sldId id="281" r:id="rId11"/>
    <p:sldId id="282" r:id="rId12"/>
    <p:sldId id="283" r:id="rId13"/>
    <p:sldId id="276" r:id="rId14"/>
  </p:sldIdLst>
  <p:sldSz cx="18288000" cy="10287000"/>
  <p:notesSz cx="6858000" cy="9144000"/>
  <p:embeddedFontLst>
    <p:embeddedFont>
      <p:font typeface="Anton" pitchFamily="2" charset="0"/>
      <p:regular r:id="rId15"/>
    </p:embeddedFont>
    <p:embeddedFont>
      <p:font typeface="Canva Sans" panose="020B0604020202020204" charset="0"/>
      <p:regular r:id="rId16"/>
    </p:embeddedFont>
    <p:embeddedFont>
      <p:font typeface="Canva Sans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D3DB"/>
    <a:srgbClr val="D9EB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074667-BFAC-492E-96FD-7F37F7FD1AC0}" v="64" dt="2025-03-20T16:50:58.273"/>
  </p1510:revLst>
</p1510:revInfo>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23" autoAdjust="0"/>
    <p:restoredTop sz="93498" autoAdjust="0"/>
  </p:normalViewPr>
  <p:slideViewPr>
    <p:cSldViewPr>
      <p:cViewPr varScale="1">
        <p:scale>
          <a:sx n="74" d="100"/>
          <a:sy n="74" d="100"/>
        </p:scale>
        <p:origin x="210" y="49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en mama" userId="845f9d5cc9c733ee" providerId="LiveId" clId="{8B074667-BFAC-492E-96FD-7F37F7FD1AC0}"/>
    <pc:docChg chg="undo redo custSel modSld modMainMaster">
      <pc:chgData name="eden mama" userId="845f9d5cc9c733ee" providerId="LiveId" clId="{8B074667-BFAC-492E-96FD-7F37F7FD1AC0}" dt="2025-03-20T16:53:31.405" v="93" actId="1076"/>
      <pc:docMkLst>
        <pc:docMk/>
      </pc:docMkLst>
      <pc:sldChg chg="modTransition">
        <pc:chgData name="eden mama" userId="845f9d5cc9c733ee" providerId="LiveId" clId="{8B074667-BFAC-492E-96FD-7F37F7FD1AC0}" dt="2025-03-20T16:34:56.526" v="66"/>
        <pc:sldMkLst>
          <pc:docMk/>
          <pc:sldMk cId="0" sldId="256"/>
        </pc:sldMkLst>
      </pc:sldChg>
      <pc:sldChg chg="addSp modSp mod modTransition">
        <pc:chgData name="eden mama" userId="845f9d5cc9c733ee" providerId="LiveId" clId="{8B074667-BFAC-492E-96FD-7F37F7FD1AC0}" dt="2025-03-20T16:34:56.526" v="66"/>
        <pc:sldMkLst>
          <pc:docMk/>
          <pc:sldMk cId="0" sldId="257"/>
        </pc:sldMkLst>
        <pc:spChg chg="mod">
          <ac:chgData name="eden mama" userId="845f9d5cc9c733ee" providerId="LiveId" clId="{8B074667-BFAC-492E-96FD-7F37F7FD1AC0}" dt="2025-03-20T16:27:42.657" v="32" actId="1076"/>
          <ac:spMkLst>
            <pc:docMk/>
            <pc:sldMk cId="0" sldId="257"/>
            <ac:spMk id="2" creationId="{00000000-0000-0000-0000-000000000000}"/>
          </ac:spMkLst>
        </pc:spChg>
        <pc:spChg chg="mod">
          <ac:chgData name="eden mama" userId="845f9d5cc9c733ee" providerId="LiveId" clId="{8B074667-BFAC-492E-96FD-7F37F7FD1AC0}" dt="2025-03-20T16:29:22.069" v="35" actId="164"/>
          <ac:spMkLst>
            <pc:docMk/>
            <pc:sldMk cId="0" sldId="257"/>
            <ac:spMk id="3" creationId="{00000000-0000-0000-0000-000000000000}"/>
          </ac:spMkLst>
        </pc:spChg>
        <pc:spChg chg="mod">
          <ac:chgData name="eden mama" userId="845f9d5cc9c733ee" providerId="LiveId" clId="{8B074667-BFAC-492E-96FD-7F37F7FD1AC0}" dt="2025-03-20T16:29:56.578" v="39" actId="1076"/>
          <ac:spMkLst>
            <pc:docMk/>
            <pc:sldMk cId="0" sldId="257"/>
            <ac:spMk id="5" creationId="{00000000-0000-0000-0000-000000000000}"/>
          </ac:spMkLst>
        </pc:spChg>
        <pc:spChg chg="mod">
          <ac:chgData name="eden mama" userId="845f9d5cc9c733ee" providerId="LiveId" clId="{8B074667-BFAC-492E-96FD-7F37F7FD1AC0}" dt="2025-03-20T16:29:22.069" v="35" actId="164"/>
          <ac:spMkLst>
            <pc:docMk/>
            <pc:sldMk cId="0" sldId="257"/>
            <ac:spMk id="6" creationId="{00000000-0000-0000-0000-000000000000}"/>
          </ac:spMkLst>
        </pc:spChg>
        <pc:spChg chg="mod">
          <ac:chgData name="eden mama" userId="845f9d5cc9c733ee" providerId="LiveId" clId="{8B074667-BFAC-492E-96FD-7F37F7FD1AC0}" dt="2025-03-20T16:29:22.069" v="35" actId="164"/>
          <ac:spMkLst>
            <pc:docMk/>
            <pc:sldMk cId="0" sldId="257"/>
            <ac:spMk id="8" creationId="{00000000-0000-0000-0000-000000000000}"/>
          </ac:spMkLst>
        </pc:spChg>
        <pc:grpChg chg="add mod">
          <ac:chgData name="eden mama" userId="845f9d5cc9c733ee" providerId="LiveId" clId="{8B074667-BFAC-492E-96FD-7F37F7FD1AC0}" dt="2025-03-20T16:30:03.915" v="40" actId="1076"/>
          <ac:grpSpMkLst>
            <pc:docMk/>
            <pc:sldMk cId="0" sldId="257"/>
            <ac:grpSpMk id="9" creationId="{F7451CBD-0859-15C2-0BA9-EE09BC694778}"/>
          </ac:grpSpMkLst>
        </pc:grpChg>
        <pc:picChg chg="mod">
          <ac:chgData name="eden mama" userId="845f9d5cc9c733ee" providerId="LiveId" clId="{8B074667-BFAC-492E-96FD-7F37F7FD1AC0}" dt="2025-03-20T16:30:11.920" v="41" actId="1076"/>
          <ac:picMkLst>
            <pc:docMk/>
            <pc:sldMk cId="0" sldId="257"/>
            <ac:picMk id="4" creationId="{00000000-0000-0000-0000-000000000000}"/>
          </ac:picMkLst>
        </pc:picChg>
        <pc:picChg chg="mod">
          <ac:chgData name="eden mama" userId="845f9d5cc9c733ee" providerId="LiveId" clId="{8B074667-BFAC-492E-96FD-7F37F7FD1AC0}" dt="2025-03-20T16:29:22.069" v="35" actId="164"/>
          <ac:picMkLst>
            <pc:docMk/>
            <pc:sldMk cId="0" sldId="257"/>
            <ac:picMk id="7" creationId="{00000000-0000-0000-0000-000000000000}"/>
          </ac:picMkLst>
        </pc:picChg>
      </pc:sldChg>
      <pc:sldChg chg="addSp modSp mod modTransition modAnim">
        <pc:chgData name="eden mama" userId="845f9d5cc9c733ee" providerId="LiveId" clId="{8B074667-BFAC-492E-96FD-7F37F7FD1AC0}" dt="2025-03-20T16:51:09.617" v="85" actId="1076"/>
        <pc:sldMkLst>
          <pc:docMk/>
          <pc:sldMk cId="0" sldId="258"/>
        </pc:sldMkLst>
        <pc:spChg chg="mod">
          <ac:chgData name="eden mama" userId="845f9d5cc9c733ee" providerId="LiveId" clId="{8B074667-BFAC-492E-96FD-7F37F7FD1AC0}" dt="2025-03-20T16:51:05.648" v="84" actId="1076"/>
          <ac:spMkLst>
            <pc:docMk/>
            <pc:sldMk cId="0" sldId="258"/>
            <ac:spMk id="2" creationId="{00000000-0000-0000-0000-000000000000}"/>
          </ac:spMkLst>
        </pc:spChg>
        <pc:spChg chg="mod">
          <ac:chgData name="eden mama" userId="845f9d5cc9c733ee" providerId="LiveId" clId="{8B074667-BFAC-492E-96FD-7F37F7FD1AC0}" dt="2025-03-20T16:49:35.216" v="77" actId="255"/>
          <ac:spMkLst>
            <pc:docMk/>
            <pc:sldMk cId="0" sldId="258"/>
            <ac:spMk id="6" creationId="{00000000-0000-0000-0000-000000000000}"/>
          </ac:spMkLst>
        </pc:spChg>
        <pc:spChg chg="mod">
          <ac:chgData name="eden mama" userId="845f9d5cc9c733ee" providerId="LiveId" clId="{8B074667-BFAC-492E-96FD-7F37F7FD1AC0}" dt="2025-03-20T16:50:58.273" v="83" actId="164"/>
          <ac:spMkLst>
            <pc:docMk/>
            <pc:sldMk cId="0" sldId="258"/>
            <ac:spMk id="7" creationId="{00000000-0000-0000-0000-000000000000}"/>
          </ac:spMkLst>
        </pc:spChg>
        <pc:spChg chg="mod">
          <ac:chgData name="eden mama" userId="845f9d5cc9c733ee" providerId="LiveId" clId="{8B074667-BFAC-492E-96FD-7F37F7FD1AC0}" dt="2025-03-20T16:30:40.300" v="42" actId="164"/>
          <ac:spMkLst>
            <pc:docMk/>
            <pc:sldMk cId="0" sldId="258"/>
            <ac:spMk id="8" creationId="{00000000-0000-0000-0000-000000000000}"/>
          </ac:spMkLst>
        </pc:spChg>
        <pc:spChg chg="mod">
          <ac:chgData name="eden mama" userId="845f9d5cc9c733ee" providerId="LiveId" clId="{8B074667-BFAC-492E-96FD-7F37F7FD1AC0}" dt="2025-03-20T16:30:40.300" v="42" actId="164"/>
          <ac:spMkLst>
            <pc:docMk/>
            <pc:sldMk cId="0" sldId="258"/>
            <ac:spMk id="11" creationId="{00000000-0000-0000-0000-000000000000}"/>
          </ac:spMkLst>
        </pc:spChg>
        <pc:grpChg chg="mod">
          <ac:chgData name="eden mama" userId="845f9d5cc9c733ee" providerId="LiveId" clId="{8B074667-BFAC-492E-96FD-7F37F7FD1AC0}" dt="2025-03-20T16:50:58.273" v="83" actId="164"/>
          <ac:grpSpMkLst>
            <pc:docMk/>
            <pc:sldMk cId="0" sldId="258"/>
            <ac:grpSpMk id="3" creationId="{00000000-0000-0000-0000-000000000000}"/>
          </ac:grpSpMkLst>
        </pc:grpChg>
        <pc:grpChg chg="add mod">
          <ac:chgData name="eden mama" userId="845f9d5cc9c733ee" providerId="LiveId" clId="{8B074667-BFAC-492E-96FD-7F37F7FD1AC0}" dt="2025-03-20T16:30:40.300" v="42" actId="164"/>
          <ac:grpSpMkLst>
            <pc:docMk/>
            <pc:sldMk cId="0" sldId="258"/>
            <ac:grpSpMk id="14" creationId="{A48F16DD-856A-980D-BFD6-BB3E3EA4BC9B}"/>
          </ac:grpSpMkLst>
        </pc:grpChg>
        <pc:grpChg chg="add mod">
          <ac:chgData name="eden mama" userId="845f9d5cc9c733ee" providerId="LiveId" clId="{8B074667-BFAC-492E-96FD-7F37F7FD1AC0}" dt="2025-03-20T16:51:09.617" v="85" actId="1076"/>
          <ac:grpSpMkLst>
            <pc:docMk/>
            <pc:sldMk cId="0" sldId="258"/>
            <ac:grpSpMk id="15" creationId="{6F76BFF0-98D5-79FD-C35E-A1759827050F}"/>
          </ac:grpSpMkLst>
        </pc:grpChg>
      </pc:sldChg>
      <pc:sldChg chg="modSp mod modTransition">
        <pc:chgData name="eden mama" userId="845f9d5cc9c733ee" providerId="LiveId" clId="{8B074667-BFAC-492E-96FD-7F37F7FD1AC0}" dt="2025-03-20T16:53:31.405" v="93" actId="1076"/>
        <pc:sldMkLst>
          <pc:docMk/>
          <pc:sldMk cId="0" sldId="259"/>
        </pc:sldMkLst>
        <pc:spChg chg="mod">
          <ac:chgData name="eden mama" userId="845f9d5cc9c733ee" providerId="LiveId" clId="{8B074667-BFAC-492E-96FD-7F37F7FD1AC0}" dt="2025-03-20T16:52:12.651" v="86" actId="255"/>
          <ac:spMkLst>
            <pc:docMk/>
            <pc:sldMk cId="0" sldId="259"/>
            <ac:spMk id="7" creationId="{00000000-0000-0000-0000-000000000000}"/>
          </ac:spMkLst>
        </pc:spChg>
        <pc:spChg chg="mod">
          <ac:chgData name="eden mama" userId="845f9d5cc9c733ee" providerId="LiveId" clId="{8B074667-BFAC-492E-96FD-7F37F7FD1AC0}" dt="2025-03-20T16:53:23.253" v="91" actId="1076"/>
          <ac:spMkLst>
            <pc:docMk/>
            <pc:sldMk cId="0" sldId="259"/>
            <ac:spMk id="8" creationId="{00000000-0000-0000-0000-000000000000}"/>
          </ac:spMkLst>
        </pc:spChg>
        <pc:spChg chg="mod">
          <ac:chgData name="eden mama" userId="845f9d5cc9c733ee" providerId="LiveId" clId="{8B074667-BFAC-492E-96FD-7F37F7FD1AC0}" dt="2025-03-20T16:53:31.405" v="93" actId="1076"/>
          <ac:spMkLst>
            <pc:docMk/>
            <pc:sldMk cId="0" sldId="259"/>
            <ac:spMk id="9" creationId="{00000000-0000-0000-0000-000000000000}"/>
          </ac:spMkLst>
        </pc:spChg>
      </pc:sldChg>
      <pc:sldChg chg="addSp delSp modSp mod modTransition">
        <pc:chgData name="eden mama" userId="845f9d5cc9c733ee" providerId="LiveId" clId="{8B074667-BFAC-492E-96FD-7F37F7FD1AC0}" dt="2025-03-20T16:52:35.050" v="88" actId="1076"/>
        <pc:sldMkLst>
          <pc:docMk/>
          <pc:sldMk cId="0" sldId="260"/>
        </pc:sldMkLst>
        <pc:spChg chg="del mod">
          <ac:chgData name="eden mama" userId="845f9d5cc9c733ee" providerId="LiveId" clId="{8B074667-BFAC-492E-96FD-7F37F7FD1AC0}" dt="2025-03-20T16:44:15.767" v="68" actId="478"/>
          <ac:spMkLst>
            <pc:docMk/>
            <pc:sldMk cId="0" sldId="260"/>
            <ac:spMk id="6" creationId="{00000000-0000-0000-0000-000000000000}"/>
          </ac:spMkLst>
        </pc:spChg>
        <pc:spChg chg="mod">
          <ac:chgData name="eden mama" userId="845f9d5cc9c733ee" providerId="LiveId" clId="{8B074667-BFAC-492E-96FD-7F37F7FD1AC0}" dt="2025-03-20T16:52:35.050" v="88" actId="1076"/>
          <ac:spMkLst>
            <pc:docMk/>
            <pc:sldMk cId="0" sldId="260"/>
            <ac:spMk id="7" creationId="{00000000-0000-0000-0000-000000000000}"/>
          </ac:spMkLst>
        </pc:spChg>
        <pc:picChg chg="add mod">
          <ac:chgData name="eden mama" userId="845f9d5cc9c733ee" providerId="LiveId" clId="{8B074667-BFAC-492E-96FD-7F37F7FD1AC0}" dt="2025-03-20T16:44:54.078" v="76" actId="1076"/>
          <ac:picMkLst>
            <pc:docMk/>
            <pc:sldMk cId="0" sldId="260"/>
            <ac:picMk id="1026" creationId="{52AF8A7B-1F93-74A9-D14E-9E648283C3E8}"/>
          </ac:picMkLst>
        </pc:picChg>
      </pc:sldChg>
      <pc:sldChg chg="modSp mod modTransition">
        <pc:chgData name="eden mama" userId="845f9d5cc9c733ee" providerId="LiveId" clId="{8B074667-BFAC-492E-96FD-7F37F7FD1AC0}" dt="2025-03-20T16:52:52.451" v="90" actId="1076"/>
        <pc:sldMkLst>
          <pc:docMk/>
          <pc:sldMk cId="0" sldId="261"/>
        </pc:sldMkLst>
        <pc:spChg chg="mod">
          <ac:chgData name="eden mama" userId="845f9d5cc9c733ee" providerId="LiveId" clId="{8B074667-BFAC-492E-96FD-7F37F7FD1AC0}" dt="2025-03-20T16:52:52.451" v="90" actId="1076"/>
          <ac:spMkLst>
            <pc:docMk/>
            <pc:sldMk cId="0" sldId="261"/>
            <ac:spMk id="7" creationId="{00000000-0000-0000-0000-000000000000}"/>
          </ac:spMkLst>
        </pc:spChg>
      </pc:sldChg>
      <pc:sldChg chg="addSp modSp modTransition modAnim">
        <pc:chgData name="eden mama" userId="845f9d5cc9c733ee" providerId="LiveId" clId="{8B074667-BFAC-492E-96FD-7F37F7FD1AC0}" dt="2025-03-20T16:34:56.526" v="66"/>
        <pc:sldMkLst>
          <pc:docMk/>
          <pc:sldMk cId="0" sldId="262"/>
        </pc:sldMkLst>
        <pc:spChg chg="mod">
          <ac:chgData name="eden mama" userId="845f9d5cc9c733ee" providerId="LiveId" clId="{8B074667-BFAC-492E-96FD-7F37F7FD1AC0}" dt="2025-03-20T16:33:08.230" v="50" actId="164"/>
          <ac:spMkLst>
            <pc:docMk/>
            <pc:sldMk cId="0" sldId="262"/>
            <ac:spMk id="4" creationId="{00000000-0000-0000-0000-000000000000}"/>
          </ac:spMkLst>
        </pc:spChg>
        <pc:spChg chg="mod">
          <ac:chgData name="eden mama" userId="845f9d5cc9c733ee" providerId="LiveId" clId="{8B074667-BFAC-492E-96FD-7F37F7FD1AC0}" dt="2025-03-20T16:33:20.190" v="52" actId="164"/>
          <ac:spMkLst>
            <pc:docMk/>
            <pc:sldMk cId="0" sldId="262"/>
            <ac:spMk id="5" creationId="{00000000-0000-0000-0000-000000000000}"/>
          </ac:spMkLst>
        </pc:spChg>
        <pc:spChg chg="mod">
          <ac:chgData name="eden mama" userId="845f9d5cc9c733ee" providerId="LiveId" clId="{8B074667-BFAC-492E-96FD-7F37F7FD1AC0}" dt="2025-03-20T16:33:08.230" v="50" actId="164"/>
          <ac:spMkLst>
            <pc:docMk/>
            <pc:sldMk cId="0" sldId="262"/>
            <ac:spMk id="9" creationId="{00000000-0000-0000-0000-000000000000}"/>
          </ac:spMkLst>
        </pc:spChg>
        <pc:spChg chg="mod">
          <ac:chgData name="eden mama" userId="845f9d5cc9c733ee" providerId="LiveId" clId="{8B074667-BFAC-492E-96FD-7F37F7FD1AC0}" dt="2025-03-20T16:33:20.190" v="52" actId="164"/>
          <ac:spMkLst>
            <pc:docMk/>
            <pc:sldMk cId="0" sldId="262"/>
            <ac:spMk id="10" creationId="{00000000-0000-0000-0000-000000000000}"/>
          </ac:spMkLst>
        </pc:spChg>
        <pc:grpChg chg="add mod">
          <ac:chgData name="eden mama" userId="845f9d5cc9c733ee" providerId="LiveId" clId="{8B074667-BFAC-492E-96FD-7F37F7FD1AC0}" dt="2025-03-20T16:33:08.230" v="50" actId="164"/>
          <ac:grpSpMkLst>
            <pc:docMk/>
            <pc:sldMk cId="0" sldId="262"/>
            <ac:grpSpMk id="13" creationId="{126589D8-3486-D19D-736F-989359629ED5}"/>
          </ac:grpSpMkLst>
        </pc:grpChg>
        <pc:grpChg chg="add mod">
          <ac:chgData name="eden mama" userId="845f9d5cc9c733ee" providerId="LiveId" clId="{8B074667-BFAC-492E-96FD-7F37F7FD1AC0}" dt="2025-03-20T16:33:20.190" v="52" actId="164"/>
          <ac:grpSpMkLst>
            <pc:docMk/>
            <pc:sldMk cId="0" sldId="262"/>
            <ac:grpSpMk id="14" creationId="{1DAE853A-659A-2A42-9130-ED2FC033A1BD}"/>
          </ac:grpSpMkLst>
        </pc:grpChg>
      </pc:sldChg>
      <pc:sldChg chg="modTransition">
        <pc:chgData name="eden mama" userId="845f9d5cc9c733ee" providerId="LiveId" clId="{8B074667-BFAC-492E-96FD-7F37F7FD1AC0}" dt="2025-03-20T16:34:56.526" v="66"/>
        <pc:sldMkLst>
          <pc:docMk/>
          <pc:sldMk cId="0" sldId="263"/>
        </pc:sldMkLst>
      </pc:sldChg>
      <pc:sldChg chg="modTransition">
        <pc:chgData name="eden mama" userId="845f9d5cc9c733ee" providerId="LiveId" clId="{8B074667-BFAC-492E-96FD-7F37F7FD1AC0}" dt="2025-03-20T16:34:56.526" v="66"/>
        <pc:sldMkLst>
          <pc:docMk/>
          <pc:sldMk cId="0" sldId="264"/>
        </pc:sldMkLst>
      </pc:sldChg>
      <pc:sldChg chg="modTransition">
        <pc:chgData name="eden mama" userId="845f9d5cc9c733ee" providerId="LiveId" clId="{8B074667-BFAC-492E-96FD-7F37F7FD1AC0}" dt="2025-03-20T16:34:56.526" v="66"/>
        <pc:sldMkLst>
          <pc:docMk/>
          <pc:sldMk cId="0" sldId="265"/>
        </pc:sldMkLst>
      </pc:sldChg>
      <pc:sldMasterChg chg="modTransition modSldLayout">
        <pc:chgData name="eden mama" userId="845f9d5cc9c733ee" providerId="LiveId" clId="{8B074667-BFAC-492E-96FD-7F37F7FD1AC0}" dt="2025-03-20T16:34:56.526" v="66"/>
        <pc:sldMasterMkLst>
          <pc:docMk/>
          <pc:sldMasterMk cId="0" sldId="2147483648"/>
        </pc:sldMasterMkLst>
        <pc:sldLayoutChg chg="modTransition">
          <pc:chgData name="eden mama" userId="845f9d5cc9c733ee" providerId="LiveId" clId="{8B074667-BFAC-492E-96FD-7F37F7FD1AC0}" dt="2025-03-20T16:34:56.526" v="66"/>
          <pc:sldLayoutMkLst>
            <pc:docMk/>
            <pc:sldMasterMk cId="0" sldId="2147483648"/>
            <pc:sldLayoutMk cId="0" sldId="2147483649"/>
          </pc:sldLayoutMkLst>
        </pc:sldLayoutChg>
        <pc:sldLayoutChg chg="modTransition">
          <pc:chgData name="eden mama" userId="845f9d5cc9c733ee" providerId="LiveId" clId="{8B074667-BFAC-492E-96FD-7F37F7FD1AC0}" dt="2025-03-20T16:34:56.526" v="66"/>
          <pc:sldLayoutMkLst>
            <pc:docMk/>
            <pc:sldMasterMk cId="0" sldId="2147483648"/>
            <pc:sldLayoutMk cId="0" sldId="2147483650"/>
          </pc:sldLayoutMkLst>
        </pc:sldLayoutChg>
        <pc:sldLayoutChg chg="modTransition">
          <pc:chgData name="eden mama" userId="845f9d5cc9c733ee" providerId="LiveId" clId="{8B074667-BFAC-492E-96FD-7F37F7FD1AC0}" dt="2025-03-20T16:34:56.526" v="66"/>
          <pc:sldLayoutMkLst>
            <pc:docMk/>
            <pc:sldMasterMk cId="0" sldId="2147483648"/>
            <pc:sldLayoutMk cId="0" sldId="2147483651"/>
          </pc:sldLayoutMkLst>
        </pc:sldLayoutChg>
        <pc:sldLayoutChg chg="modTransition">
          <pc:chgData name="eden mama" userId="845f9d5cc9c733ee" providerId="LiveId" clId="{8B074667-BFAC-492E-96FD-7F37F7FD1AC0}" dt="2025-03-20T16:34:56.526" v="66"/>
          <pc:sldLayoutMkLst>
            <pc:docMk/>
            <pc:sldMasterMk cId="0" sldId="2147483648"/>
            <pc:sldLayoutMk cId="0" sldId="2147483652"/>
          </pc:sldLayoutMkLst>
        </pc:sldLayoutChg>
        <pc:sldLayoutChg chg="modTransition">
          <pc:chgData name="eden mama" userId="845f9d5cc9c733ee" providerId="LiveId" clId="{8B074667-BFAC-492E-96FD-7F37F7FD1AC0}" dt="2025-03-20T16:34:56.526" v="66"/>
          <pc:sldLayoutMkLst>
            <pc:docMk/>
            <pc:sldMasterMk cId="0" sldId="2147483648"/>
            <pc:sldLayoutMk cId="0" sldId="2147483653"/>
          </pc:sldLayoutMkLst>
        </pc:sldLayoutChg>
        <pc:sldLayoutChg chg="modTransition">
          <pc:chgData name="eden mama" userId="845f9d5cc9c733ee" providerId="LiveId" clId="{8B074667-BFAC-492E-96FD-7F37F7FD1AC0}" dt="2025-03-20T16:34:56.526" v="66"/>
          <pc:sldLayoutMkLst>
            <pc:docMk/>
            <pc:sldMasterMk cId="0" sldId="2147483648"/>
            <pc:sldLayoutMk cId="0" sldId="2147483654"/>
          </pc:sldLayoutMkLst>
        </pc:sldLayoutChg>
        <pc:sldLayoutChg chg="modTransition">
          <pc:chgData name="eden mama" userId="845f9d5cc9c733ee" providerId="LiveId" clId="{8B074667-BFAC-492E-96FD-7F37F7FD1AC0}" dt="2025-03-20T16:34:56.526" v="66"/>
          <pc:sldLayoutMkLst>
            <pc:docMk/>
            <pc:sldMasterMk cId="0" sldId="2147483648"/>
            <pc:sldLayoutMk cId="0" sldId="2147483655"/>
          </pc:sldLayoutMkLst>
        </pc:sldLayoutChg>
        <pc:sldLayoutChg chg="modTransition">
          <pc:chgData name="eden mama" userId="845f9d5cc9c733ee" providerId="LiveId" clId="{8B074667-BFAC-492E-96FD-7F37F7FD1AC0}" dt="2025-03-20T16:34:56.526" v="66"/>
          <pc:sldLayoutMkLst>
            <pc:docMk/>
            <pc:sldMasterMk cId="0" sldId="2147483648"/>
            <pc:sldLayoutMk cId="0" sldId="2147483656"/>
          </pc:sldLayoutMkLst>
        </pc:sldLayoutChg>
        <pc:sldLayoutChg chg="modTransition">
          <pc:chgData name="eden mama" userId="845f9d5cc9c733ee" providerId="LiveId" clId="{8B074667-BFAC-492E-96FD-7F37F7FD1AC0}" dt="2025-03-20T16:34:56.526" v="66"/>
          <pc:sldLayoutMkLst>
            <pc:docMk/>
            <pc:sldMasterMk cId="0" sldId="2147483648"/>
            <pc:sldLayoutMk cId="0" sldId="2147483657"/>
          </pc:sldLayoutMkLst>
        </pc:sldLayoutChg>
        <pc:sldLayoutChg chg="modTransition">
          <pc:chgData name="eden mama" userId="845f9d5cc9c733ee" providerId="LiveId" clId="{8B074667-BFAC-492E-96FD-7F37F7FD1AC0}" dt="2025-03-20T16:34:56.526" v="66"/>
          <pc:sldLayoutMkLst>
            <pc:docMk/>
            <pc:sldMasterMk cId="0" sldId="2147483648"/>
            <pc:sldLayoutMk cId="0" sldId="2147483658"/>
          </pc:sldLayoutMkLst>
        </pc:sldLayoutChg>
        <pc:sldLayoutChg chg="modTransition">
          <pc:chgData name="eden mama" userId="845f9d5cc9c733ee" providerId="LiveId" clId="{8B074667-BFAC-492E-96FD-7F37F7FD1AC0}" dt="2025-03-20T16:34:56.526" v="66"/>
          <pc:sldLayoutMkLst>
            <pc:docMk/>
            <pc:sldMasterMk cId="0" sldId="2147483648"/>
            <pc:sldLayoutMk cId="0"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prism/>
      </p:transition>
    </mc:Choice>
    <mc:Fallback xmlns="">
      <p:transition>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kaggle.com/datasets/krish0202/symptom-based-disease-labeling-dataset?resource=download"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FaizalKarim280280/DiagnoAI" TargetMode="External"/><Relationship Id="rId2" Type="http://schemas.openxmlformats.org/officeDocument/2006/relationships/hyperlink" Target="https://arxiv.org/pdf/2108.12242" TargetMode="External"/><Relationship Id="rId1" Type="http://schemas.openxmlformats.org/officeDocument/2006/relationships/slideLayout" Target="../slideLayouts/slideLayout7.xml"/><Relationship Id="rId4" Type="http://schemas.openxmlformats.org/officeDocument/2006/relationships/hyperlink" Target="https://www.nature.com/articles/s41598-024-51615-5.pdf"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lielsheri/PatientSignal"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sp>
        <p:nvSpPr>
          <p:cNvPr id="11" name="Freeform 11"/>
          <p:cNvSpPr/>
          <p:nvPr/>
        </p:nvSpPr>
        <p:spPr>
          <a:xfrm>
            <a:off x="-10861334" y="4598030"/>
            <a:ext cx="15304372" cy="15304372"/>
          </a:xfrm>
          <a:custGeom>
            <a:avLst/>
            <a:gdLst/>
            <a:ahLst/>
            <a:cxnLst/>
            <a:rect l="l" t="t" r="r" b="b"/>
            <a:pathLst>
              <a:path w="15304372" h="15304372">
                <a:moveTo>
                  <a:pt x="0" y="0"/>
                </a:moveTo>
                <a:lnTo>
                  <a:pt x="15304372" y="0"/>
                </a:lnTo>
                <a:lnTo>
                  <a:pt x="15304372" y="15304372"/>
                </a:lnTo>
                <a:lnTo>
                  <a:pt x="0" y="15304372"/>
                </a:lnTo>
                <a:lnTo>
                  <a:pt x="0" y="0"/>
                </a:lnTo>
                <a:close/>
              </a:path>
            </a:pathLst>
          </a:custGeom>
          <a:blipFill>
            <a:blip r:embed="rId2">
              <a:alphaModFix amt="32999"/>
              <a:extLst>
                <a:ext uri="{96DAC541-7B7A-43D3-8B79-37D633B846F1}">
                  <asvg:svgBlip xmlns:asvg="http://schemas.microsoft.com/office/drawing/2016/SVG/main" r:embed="rId3"/>
                </a:ext>
              </a:extLst>
            </a:blip>
            <a:stretch>
              <a:fillRect/>
            </a:stretch>
          </a:blipFill>
        </p:spPr>
        <p:txBody>
          <a:bodyPr/>
          <a:lstStyle/>
          <a:p>
            <a:endParaRPr lang="he-IL"/>
          </a:p>
        </p:txBody>
      </p:sp>
      <p:pic>
        <p:nvPicPr>
          <p:cNvPr id="17" name="תמונה 16" descr="תמונה שמכילה טקסט, גרפיקה, אומנות קליפיפם, גופן&#10;&#10;תוכן שנוצר על-ידי בינה מלאכותית עשוי להיות שגוי.">
            <a:extLst>
              <a:ext uri="{FF2B5EF4-FFF2-40B4-BE49-F238E27FC236}">
                <a16:creationId xmlns:a16="http://schemas.microsoft.com/office/drawing/2014/main" id="{9BF65BE1-B6F1-1ED2-5489-A059AD9224B2}"/>
              </a:ext>
            </a:extLst>
          </p:cNvPr>
          <p:cNvPicPr>
            <a:picLocks noChangeAspect="1"/>
          </p:cNvPicPr>
          <p:nvPr/>
        </p:nvPicPr>
        <p:blipFill>
          <a:blip r:embed="rId4"/>
          <a:stretch>
            <a:fillRect/>
          </a:stretch>
        </p:blipFill>
        <p:spPr>
          <a:xfrm>
            <a:off x="0" y="-952500"/>
            <a:ext cx="18288000" cy="12192000"/>
          </a:xfrm>
          <a:prstGeom prst="rect">
            <a:avLst/>
          </a:prstGeom>
        </p:spPr>
      </p:pic>
      <p:sp>
        <p:nvSpPr>
          <p:cNvPr id="20" name="TextBox 14">
            <a:extLst>
              <a:ext uri="{FF2B5EF4-FFF2-40B4-BE49-F238E27FC236}">
                <a16:creationId xmlns:a16="http://schemas.microsoft.com/office/drawing/2014/main" id="{A0B57A66-1E48-F285-8546-8A2AFB7357ED}"/>
              </a:ext>
            </a:extLst>
          </p:cNvPr>
          <p:cNvSpPr txBox="1"/>
          <p:nvPr/>
        </p:nvSpPr>
        <p:spPr>
          <a:xfrm>
            <a:off x="9436972" y="6819900"/>
            <a:ext cx="5867400" cy="1423467"/>
          </a:xfrm>
          <a:prstGeom prst="rect">
            <a:avLst/>
          </a:prstGeom>
        </p:spPr>
        <p:txBody>
          <a:bodyPr wrap="square" lIns="0" tIns="0" rIns="0" bIns="0" rtlCol="0" anchor="t">
            <a:spAutoFit/>
          </a:bodyPr>
          <a:lstStyle/>
          <a:p>
            <a:pPr algn="ctr">
              <a:lnSpc>
                <a:spcPts val="3698"/>
              </a:lnSpc>
            </a:pPr>
            <a:r>
              <a:rPr lang="en-US" sz="32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sym typeface="Canva Sans Bold"/>
              </a:rPr>
              <a:t>Group Members:</a:t>
            </a:r>
          </a:p>
          <a:p>
            <a:pPr algn="ctr">
              <a:lnSpc>
                <a:spcPts val="3698"/>
              </a:lnSpc>
            </a:pPr>
            <a:r>
              <a:rPr lang="en-US" sz="32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sym typeface="Canva Sans Bold"/>
              </a:rPr>
              <a:t> Eden Mama and </a:t>
            </a:r>
          </a:p>
          <a:p>
            <a:pPr algn="ctr">
              <a:lnSpc>
                <a:spcPts val="3698"/>
              </a:lnSpc>
            </a:pPr>
            <a:r>
              <a:rPr lang="en-US" sz="32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sym typeface="Canva Sans Bold"/>
              </a:rPr>
              <a:t>Liel Sheri</a:t>
            </a:r>
            <a:endParaRPr lang="en-US" sz="2641" b="1" dirty="0">
              <a:solidFill>
                <a:srgbClr val="3428BA"/>
              </a:solidFill>
              <a:latin typeface="Canva Sans Bold"/>
              <a:ea typeface="Canva Sans Bold"/>
              <a:cs typeface="Canva Sans Bold"/>
              <a:sym typeface="Canva Sans Bold"/>
            </a:endParaRPr>
          </a:p>
        </p:txBody>
      </p:sp>
    </p:spTree>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alpha val="75000"/>
          </a:schemeClr>
        </a:solidFill>
        <a:effectLst/>
      </p:bgPr>
    </p:bg>
    <p:spTree>
      <p:nvGrpSpPr>
        <p:cNvPr id="1" name=""/>
        <p:cNvGrpSpPr/>
        <p:nvPr/>
      </p:nvGrpSpPr>
      <p:grpSpPr>
        <a:xfrm>
          <a:off x="0" y="0"/>
          <a:ext cx="0" cy="0"/>
          <a:chOff x="0" y="0"/>
          <a:chExt cx="0" cy="0"/>
        </a:xfrm>
      </p:grpSpPr>
      <p:sp>
        <p:nvSpPr>
          <p:cNvPr id="2" name="TextBox 5">
            <a:extLst>
              <a:ext uri="{FF2B5EF4-FFF2-40B4-BE49-F238E27FC236}">
                <a16:creationId xmlns:a16="http://schemas.microsoft.com/office/drawing/2014/main" id="{DA7972A2-38F1-254B-34AD-1E35F6518915}"/>
              </a:ext>
            </a:extLst>
          </p:cNvPr>
          <p:cNvSpPr txBox="1"/>
          <p:nvPr/>
        </p:nvSpPr>
        <p:spPr>
          <a:xfrm>
            <a:off x="4507377" y="169290"/>
            <a:ext cx="9347289" cy="1437023"/>
          </a:xfrm>
          <a:prstGeom prst="rect">
            <a:avLst/>
          </a:prstGeom>
        </p:spPr>
        <p:txBody>
          <a:bodyPr lIns="0" tIns="0" rIns="0" bIns="0" rtlCol="0" anchor="t">
            <a:spAutoFit/>
          </a:bodyPr>
          <a:lstStyle/>
          <a:p>
            <a:pPr algn="ctr">
              <a:lnSpc>
                <a:spcPts val="11747"/>
              </a:lnSpc>
              <a:spcBef>
                <a:spcPct val="0"/>
              </a:spcBef>
            </a:pPr>
            <a:r>
              <a:rPr lang="en-US" sz="8391" dirty="0">
                <a:solidFill>
                  <a:schemeClr val="accent1">
                    <a:lumMod val="50000"/>
                  </a:schemeClr>
                </a:solidFill>
                <a:latin typeface="Anton"/>
                <a:ea typeface="Anton"/>
                <a:cs typeface="Anton"/>
                <a:sym typeface="Anton"/>
              </a:rPr>
              <a:t>Project Description</a:t>
            </a:r>
          </a:p>
        </p:txBody>
      </p:sp>
      <p:sp>
        <p:nvSpPr>
          <p:cNvPr id="3" name="TextBox 8">
            <a:extLst>
              <a:ext uri="{FF2B5EF4-FFF2-40B4-BE49-F238E27FC236}">
                <a16:creationId xmlns:a16="http://schemas.microsoft.com/office/drawing/2014/main" id="{DB2F4E87-F5D1-9C51-E25C-5FFE18EAE9D6}"/>
              </a:ext>
            </a:extLst>
          </p:cNvPr>
          <p:cNvSpPr txBox="1"/>
          <p:nvPr/>
        </p:nvSpPr>
        <p:spPr>
          <a:xfrm>
            <a:off x="114300" y="1790700"/>
            <a:ext cx="18059400" cy="1469698"/>
          </a:xfrm>
          <a:prstGeom prst="rect">
            <a:avLst/>
          </a:prstGeom>
        </p:spPr>
        <p:txBody>
          <a:bodyPr wrap="square" lIns="0" tIns="0" rIns="0" bIns="0" rtlCol="0" anchor="t">
            <a:spAutoFit/>
          </a:bodyPr>
          <a:lstStyle/>
          <a:p>
            <a:pPr algn="ctr">
              <a:lnSpc>
                <a:spcPts val="3919"/>
              </a:lnSpc>
              <a:spcBef>
                <a:spcPct val="0"/>
              </a:spcBef>
            </a:pPr>
            <a:r>
              <a:rPr lang="en-US" sz="2800" dirty="0"/>
              <a:t>In routine clinical interviews, physicians rely on patient</a:t>
            </a:r>
            <a:r>
              <a:rPr lang="he-IL" sz="2800" dirty="0"/>
              <a:t>'</a:t>
            </a:r>
            <a:r>
              <a:rPr lang="en-US" sz="2800" dirty="0"/>
              <a:t>s own words to describe their symptoms, but these descriptions often include unrelated details. In </a:t>
            </a:r>
            <a:r>
              <a:rPr lang="en-US" sz="2800" dirty="0" err="1"/>
              <a:t>PatientSignal</a:t>
            </a:r>
            <a:r>
              <a:rPr lang="en-US" sz="2800" dirty="0"/>
              <a:t>, we recreate this “natural noise” to clean symptom descriptions. Our aim is to measure how these conversational distractions affect diagnostic accuracy across different models.</a:t>
            </a:r>
            <a:endParaRPr lang="en-US" sz="2799" dirty="0">
              <a:solidFill>
                <a:srgbClr val="000000"/>
              </a:solidFill>
              <a:latin typeface="Canva Sans"/>
              <a:ea typeface="Canva Sans"/>
              <a:cs typeface="Canva Sans"/>
              <a:sym typeface="Canva Sans"/>
            </a:endParaRPr>
          </a:p>
        </p:txBody>
      </p:sp>
      <p:pic>
        <p:nvPicPr>
          <p:cNvPr id="1026" name="Picture 2">
            <a:extLst>
              <a:ext uri="{FF2B5EF4-FFF2-40B4-BE49-F238E27FC236}">
                <a16:creationId xmlns:a16="http://schemas.microsoft.com/office/drawing/2014/main" id="{43007E83-D8E0-4DF0-E3FA-BE54946DCE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9221" y="3848100"/>
            <a:ext cx="594360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2546196"/>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alpha val="75000"/>
          </a:schemeClr>
        </a:solidFill>
        <a:effectLst/>
      </p:bgPr>
    </p:bg>
    <p:spTree>
      <p:nvGrpSpPr>
        <p:cNvPr id="1" name="">
          <a:extLst>
            <a:ext uri="{FF2B5EF4-FFF2-40B4-BE49-F238E27FC236}">
              <a16:creationId xmlns:a16="http://schemas.microsoft.com/office/drawing/2014/main" id="{F6FEF37B-455A-F2A2-30E9-5B44D7866325}"/>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57D5915B-7DC5-0F76-B023-A8D8C7FCBBD7}"/>
              </a:ext>
            </a:extLst>
          </p:cNvPr>
          <p:cNvSpPr txBox="1"/>
          <p:nvPr/>
        </p:nvSpPr>
        <p:spPr>
          <a:xfrm>
            <a:off x="4507377" y="169290"/>
            <a:ext cx="9347289" cy="1437023"/>
          </a:xfrm>
          <a:prstGeom prst="rect">
            <a:avLst/>
          </a:prstGeom>
        </p:spPr>
        <p:txBody>
          <a:bodyPr lIns="0" tIns="0" rIns="0" bIns="0" rtlCol="0" anchor="t">
            <a:spAutoFit/>
          </a:bodyPr>
          <a:lstStyle/>
          <a:p>
            <a:pPr algn="ctr">
              <a:lnSpc>
                <a:spcPts val="11747"/>
              </a:lnSpc>
              <a:spcBef>
                <a:spcPct val="0"/>
              </a:spcBef>
            </a:pPr>
            <a:r>
              <a:rPr lang="en-US" sz="8391" dirty="0">
                <a:solidFill>
                  <a:schemeClr val="accent1">
                    <a:lumMod val="50000"/>
                  </a:schemeClr>
                </a:solidFill>
                <a:latin typeface="Anton"/>
                <a:ea typeface="Anton"/>
                <a:cs typeface="Anton"/>
                <a:sym typeface="Anton"/>
              </a:rPr>
              <a:t>Project Description</a:t>
            </a:r>
          </a:p>
        </p:txBody>
      </p:sp>
      <p:sp>
        <p:nvSpPr>
          <p:cNvPr id="3" name="TextBox 8">
            <a:extLst>
              <a:ext uri="{FF2B5EF4-FFF2-40B4-BE49-F238E27FC236}">
                <a16:creationId xmlns:a16="http://schemas.microsoft.com/office/drawing/2014/main" id="{A5428CD3-0372-5F5C-C5EC-F05A366A91D6}"/>
              </a:ext>
            </a:extLst>
          </p:cNvPr>
          <p:cNvSpPr txBox="1"/>
          <p:nvPr/>
        </p:nvSpPr>
        <p:spPr>
          <a:xfrm>
            <a:off x="114300" y="1578168"/>
            <a:ext cx="18059400" cy="2470420"/>
          </a:xfrm>
          <a:prstGeom prst="rect">
            <a:avLst/>
          </a:prstGeom>
        </p:spPr>
        <p:txBody>
          <a:bodyPr wrap="square" lIns="0" tIns="0" rIns="0" bIns="0" rtlCol="0" anchor="t">
            <a:spAutoFit/>
          </a:bodyPr>
          <a:lstStyle/>
          <a:p>
            <a:pPr algn="ctr">
              <a:lnSpc>
                <a:spcPts val="3919"/>
              </a:lnSpc>
              <a:spcBef>
                <a:spcPct val="0"/>
              </a:spcBef>
            </a:pPr>
            <a:r>
              <a:rPr lang="en-US" sz="2800" dirty="0" err="1">
                <a:solidFill>
                  <a:srgbClr val="000000"/>
                </a:solidFill>
                <a:ea typeface="Canva Sans"/>
                <a:cs typeface="Canva Sans"/>
                <a:sym typeface="Canva Sans"/>
              </a:rPr>
              <a:t>PatientSignal</a:t>
            </a:r>
            <a:r>
              <a:rPr lang="en-US" sz="2800" dirty="0">
                <a:solidFill>
                  <a:srgbClr val="000000"/>
                </a:solidFill>
                <a:ea typeface="Canva Sans"/>
                <a:cs typeface="Canva Sans"/>
                <a:sym typeface="Canva Sans"/>
              </a:rPr>
              <a:t> transforms patient's natural symptom descriptions into disease classifications, even when the descriptions include irrelevant or repetitive details. Our input consists of 1,200 clean symptom texts, which we re-generated using Llama3.1:8b  to simulate two realistic noise levels: medium noise (80–220 words) and heavy noise (150–390 words).</a:t>
            </a:r>
            <a:br>
              <a:rPr lang="en-US" sz="2800" dirty="0">
                <a:solidFill>
                  <a:srgbClr val="000000"/>
                </a:solidFill>
                <a:ea typeface="Canva Sans"/>
                <a:cs typeface="Canva Sans"/>
                <a:sym typeface="Canva Sans"/>
              </a:rPr>
            </a:br>
            <a:r>
              <a:rPr lang="en-US" sz="2800" dirty="0">
                <a:solidFill>
                  <a:srgbClr val="000000"/>
                </a:solidFill>
                <a:ea typeface="Canva Sans"/>
                <a:cs typeface="Canva Sans"/>
                <a:sym typeface="Canva Sans"/>
              </a:rPr>
              <a:t> The models output one of 24 disease labels. We compare the accuracy of four classification methods: Multinomial Naïve Bayes, BERT, </a:t>
            </a:r>
            <a:r>
              <a:rPr lang="en-US" sz="2800" dirty="0" err="1">
                <a:solidFill>
                  <a:srgbClr val="000000"/>
                </a:solidFill>
                <a:ea typeface="Canva Sans"/>
                <a:cs typeface="Canva Sans"/>
                <a:sym typeface="Canva Sans"/>
              </a:rPr>
              <a:t>ClinicalBERT</a:t>
            </a:r>
            <a:r>
              <a:rPr lang="en-US" sz="2800" dirty="0">
                <a:solidFill>
                  <a:srgbClr val="000000"/>
                </a:solidFill>
                <a:ea typeface="Canva Sans"/>
                <a:cs typeface="Canva Sans"/>
                <a:sym typeface="Canva Sans"/>
              </a:rPr>
              <a:t>, and FLAN-T5 to identify the most robust model for handling conversational noise.</a:t>
            </a:r>
          </a:p>
        </p:txBody>
      </p:sp>
      <p:pic>
        <p:nvPicPr>
          <p:cNvPr id="4" name="תמונה 3">
            <a:hlinkClick r:id="rId2"/>
            <a:extLst>
              <a:ext uri="{FF2B5EF4-FFF2-40B4-BE49-F238E27FC236}">
                <a16:creationId xmlns:a16="http://schemas.microsoft.com/office/drawing/2014/main" id="{9DD9F670-ED30-0405-F52F-C8D0A484125B}"/>
              </a:ext>
            </a:extLst>
          </p:cNvPr>
          <p:cNvPicPr>
            <a:picLocks noChangeAspect="1"/>
          </p:cNvPicPr>
          <p:nvPr/>
        </p:nvPicPr>
        <p:blipFill>
          <a:blip r:embed="rId3"/>
          <a:stretch>
            <a:fillRect/>
          </a:stretch>
        </p:blipFill>
        <p:spPr>
          <a:xfrm>
            <a:off x="13487400" y="405510"/>
            <a:ext cx="976565" cy="955055"/>
          </a:xfrm>
          <a:prstGeom prst="rect">
            <a:avLst/>
          </a:prstGeom>
        </p:spPr>
      </p:pic>
      <p:graphicFrame>
        <p:nvGraphicFramePr>
          <p:cNvPr id="5" name="טבלה 4">
            <a:extLst>
              <a:ext uri="{FF2B5EF4-FFF2-40B4-BE49-F238E27FC236}">
                <a16:creationId xmlns:a16="http://schemas.microsoft.com/office/drawing/2014/main" id="{2A293D08-47DF-E3B2-27D7-BCE12004E5F2}"/>
              </a:ext>
            </a:extLst>
          </p:cNvPr>
          <p:cNvGraphicFramePr>
            <a:graphicFrameLocks noGrp="1"/>
          </p:cNvGraphicFramePr>
          <p:nvPr>
            <p:extLst>
              <p:ext uri="{D42A27DB-BD31-4B8C-83A1-F6EECF244321}">
                <p14:modId xmlns:p14="http://schemas.microsoft.com/office/powerpoint/2010/main" val="616673030"/>
              </p:ext>
            </p:extLst>
          </p:nvPr>
        </p:nvGraphicFramePr>
        <p:xfrm>
          <a:off x="151321" y="4294336"/>
          <a:ext cx="17830800" cy="5535931"/>
        </p:xfrm>
        <a:graphic>
          <a:graphicData uri="http://schemas.openxmlformats.org/drawingml/2006/table">
            <a:tbl>
              <a:tblPr rtl="1" firstRow="1" bandRow="1">
                <a:tableStyleId>{5C22544A-7EE6-4342-B048-85BDC9FD1C3A}</a:tableStyleId>
              </a:tblPr>
              <a:tblGrid>
                <a:gridCol w="1592942">
                  <a:extLst>
                    <a:ext uri="{9D8B030D-6E8A-4147-A177-3AD203B41FA5}">
                      <a16:colId xmlns:a16="http://schemas.microsoft.com/office/drawing/2014/main" val="137808335"/>
                    </a:ext>
                  </a:extLst>
                </a:gridCol>
                <a:gridCol w="13853885">
                  <a:extLst>
                    <a:ext uri="{9D8B030D-6E8A-4147-A177-3AD203B41FA5}">
                      <a16:colId xmlns:a16="http://schemas.microsoft.com/office/drawing/2014/main" val="4214491694"/>
                    </a:ext>
                  </a:extLst>
                </a:gridCol>
                <a:gridCol w="2383973">
                  <a:extLst>
                    <a:ext uri="{9D8B030D-6E8A-4147-A177-3AD203B41FA5}">
                      <a16:colId xmlns:a16="http://schemas.microsoft.com/office/drawing/2014/main" val="2838907043"/>
                    </a:ext>
                  </a:extLst>
                </a:gridCol>
              </a:tblGrid>
              <a:tr h="124288">
                <a:tc>
                  <a:txBody>
                    <a:bodyPr/>
                    <a:lstStyle/>
                    <a:p>
                      <a:pPr algn="ctr" rtl="1"/>
                      <a:r>
                        <a:rPr lang="en-US" sz="2400" dirty="0"/>
                        <a:t>Prediction</a:t>
                      </a:r>
                      <a:endParaRPr lang="he-IL" sz="2400" dirty="0"/>
                    </a:p>
                  </a:txBody>
                  <a:tcPr>
                    <a:solidFill>
                      <a:schemeClr val="accent1">
                        <a:lumMod val="50000"/>
                      </a:schemeClr>
                    </a:solidFill>
                  </a:tcPr>
                </a:tc>
                <a:tc>
                  <a:txBody>
                    <a:bodyPr/>
                    <a:lstStyle/>
                    <a:p>
                      <a:pPr algn="ctr" rtl="1"/>
                      <a:r>
                        <a:rPr lang="en-US" sz="2400" dirty="0"/>
                        <a:t>Text</a:t>
                      </a:r>
                      <a:endParaRPr lang="he-IL" sz="2400" dirty="0"/>
                    </a:p>
                  </a:txBody>
                  <a:tcPr>
                    <a:solidFill>
                      <a:schemeClr val="accent1">
                        <a:lumMod val="50000"/>
                      </a:schemeClr>
                    </a:solidFill>
                  </a:tcPr>
                </a:tc>
                <a:tc>
                  <a:txBody>
                    <a:bodyPr/>
                    <a:lstStyle/>
                    <a:p>
                      <a:pPr algn="ctr" rtl="1"/>
                      <a:r>
                        <a:rPr lang="en-US" sz="2400" dirty="0"/>
                        <a:t>Version</a:t>
                      </a:r>
                      <a:endParaRPr lang="he-IL" sz="2400" dirty="0"/>
                    </a:p>
                  </a:txBody>
                  <a:tcPr>
                    <a:solidFill>
                      <a:schemeClr val="accent1">
                        <a:lumMod val="50000"/>
                      </a:schemeClr>
                    </a:solidFill>
                  </a:tcPr>
                </a:tc>
                <a:extLst>
                  <a:ext uri="{0D108BD9-81ED-4DB2-BD59-A6C34878D82A}">
                    <a16:rowId xmlns:a16="http://schemas.microsoft.com/office/drawing/2014/main" val="1130359397"/>
                  </a:ext>
                </a:extLst>
              </a:tr>
              <a:tr h="781051">
                <a:tc>
                  <a:txBody>
                    <a:bodyPr/>
                    <a:lstStyle/>
                    <a:p>
                      <a:pPr algn="ctr" rtl="1"/>
                      <a:r>
                        <a:rPr lang="en-US" dirty="0"/>
                        <a:t>Psoriasis</a:t>
                      </a:r>
                      <a:endParaRPr lang="he-IL" dirty="0"/>
                    </a:p>
                  </a:txBody>
                  <a:tcPr/>
                </a:tc>
                <a:tc>
                  <a:txBody>
                    <a:bodyPr/>
                    <a:lstStyle/>
                    <a:p>
                      <a:pPr rtl="1"/>
                      <a:r>
                        <a:rPr lang="en-US" dirty="0"/>
                        <a:t>	My skin is extremely sensitive and quickly irritated by changes in temperature or humidity. My nails have developed dents on them. I am worried about this sudden change.</a:t>
                      </a:r>
                      <a:endParaRPr lang="he-IL" dirty="0"/>
                    </a:p>
                  </a:txBody>
                  <a:tcPr/>
                </a:tc>
                <a:tc>
                  <a:txBody>
                    <a:bodyPr/>
                    <a:lstStyle/>
                    <a:p>
                      <a:pPr marL="0" algn="ctr" defTabSz="914400" rtl="1" eaLnBrk="1" latinLnBrk="0" hangingPunct="1"/>
                      <a:r>
                        <a:rPr lang="en-US" sz="2400" b="1" kern="1200" dirty="0">
                          <a:solidFill>
                            <a:schemeClr val="lt1"/>
                          </a:solidFill>
                          <a:latin typeface="+mn-lt"/>
                          <a:ea typeface="+mn-ea"/>
                          <a:cs typeface="+mn-cs"/>
                        </a:rPr>
                        <a:t>Clean</a:t>
                      </a:r>
                      <a:endParaRPr lang="he-IL" sz="2400" b="1" kern="1200" dirty="0">
                        <a:solidFill>
                          <a:schemeClr val="lt1"/>
                        </a:solidFill>
                        <a:latin typeface="+mn-lt"/>
                        <a:ea typeface="+mn-ea"/>
                        <a:cs typeface="+mn-cs"/>
                      </a:endParaRPr>
                    </a:p>
                  </a:txBody>
                  <a:tcPr>
                    <a:solidFill>
                      <a:schemeClr val="accent1">
                        <a:lumMod val="50000"/>
                      </a:schemeClr>
                    </a:solidFill>
                  </a:tcPr>
                </a:tc>
                <a:extLst>
                  <a:ext uri="{0D108BD9-81ED-4DB2-BD59-A6C34878D82A}">
                    <a16:rowId xmlns:a16="http://schemas.microsoft.com/office/drawing/2014/main" val="749502633"/>
                  </a:ext>
                </a:extLst>
              </a:tr>
              <a:tr h="781051">
                <a:tc>
                  <a:txBody>
                    <a:bodyPr/>
                    <a:lstStyle/>
                    <a:p>
                      <a:pPr algn="ctr" rtl="1"/>
                      <a:r>
                        <a:rPr lang="en-US" dirty="0"/>
                        <a:t>Psoriasis</a:t>
                      </a:r>
                      <a:endParaRPr lang="he-IL" dirty="0"/>
                    </a:p>
                  </a:txBody>
                  <a:tcPr/>
                </a:tc>
                <a:tc>
                  <a:txBody>
                    <a:bodyPr/>
                    <a:lstStyle/>
                    <a:p>
                      <a:pPr rtl="1"/>
                      <a:r>
                        <a:rPr lang="en-US" dirty="0"/>
                        <a:t>"Oh dear, my skin... it just gets so red and tender now. Can't even go outside without </a:t>
                      </a:r>
                      <a:r>
                        <a:rPr lang="en-US" dirty="0" err="1"/>
                        <a:t>gettin</a:t>
                      </a:r>
                      <a:r>
                        <a:rPr lang="en-US" dirty="0"/>
                        <a:t>' all irritated. Temperature changes, humidity... I swear, I'm like a leaf in the wind. Reminds me of that time at the beach when I was a </a:t>
                      </a:r>
                      <a:r>
                        <a:rPr lang="en-US" dirty="0" err="1"/>
                        <a:t>youngin</a:t>
                      </a:r>
                      <a:r>
                        <a:rPr lang="en-US" dirty="0"/>
                        <a:t>', got sunburned to a crisp on my poor face... (chuckles) Oh, where's my mind? Ah yes, the skin. And now these dents on my nails! Like little holes or </a:t>
                      </a:r>
                      <a:r>
                        <a:rPr lang="en-US" dirty="0" err="1"/>
                        <a:t>somethin</a:t>
                      </a:r>
                      <a:r>
                        <a:rPr lang="en-US" dirty="0"/>
                        <a:t>'. Never had that before. Started last month, maybe? Or was it two months ago? Time just gets away from you, doesn't it? Anyway... I'm worried about this. It's like my body's </a:t>
                      </a:r>
                      <a:r>
                        <a:rPr lang="en-US" dirty="0" err="1"/>
                        <a:t>fallin</a:t>
                      </a:r>
                      <a:r>
                        <a:rPr lang="en-US" dirty="0"/>
                        <a:t>' apart on me."</a:t>
                      </a:r>
                      <a:endParaRPr lang="he-IL" dirty="0"/>
                    </a:p>
                  </a:txBody>
                  <a:tcPr/>
                </a:tc>
                <a:tc>
                  <a:txBody>
                    <a:bodyPr/>
                    <a:lstStyle/>
                    <a:p>
                      <a:pPr marL="0" algn="ctr" defTabSz="914400" rtl="1" eaLnBrk="1" latinLnBrk="0" hangingPunct="1"/>
                      <a:r>
                        <a:rPr lang="en-US" sz="2400" b="1" kern="1200" dirty="0">
                          <a:solidFill>
                            <a:schemeClr val="lt1"/>
                          </a:solidFill>
                          <a:latin typeface="+mn-lt"/>
                          <a:ea typeface="+mn-ea"/>
                          <a:cs typeface="+mn-cs"/>
                        </a:rPr>
                        <a:t>Medium Noise </a:t>
                      </a:r>
                      <a:r>
                        <a:rPr lang="he-IL" sz="2400" b="1" kern="1200" dirty="0">
                          <a:solidFill>
                            <a:schemeClr val="lt1"/>
                          </a:solidFill>
                          <a:latin typeface="+mn-lt"/>
                          <a:ea typeface="+mn-ea"/>
                          <a:cs typeface="+mn-cs"/>
                        </a:rPr>
                        <a:t>(80-220</a:t>
                      </a:r>
                      <a:r>
                        <a:rPr lang="en-US" sz="2400" b="1" kern="1200" dirty="0">
                          <a:solidFill>
                            <a:schemeClr val="lt1"/>
                          </a:solidFill>
                          <a:latin typeface="+mn-lt"/>
                          <a:ea typeface="+mn-ea"/>
                          <a:cs typeface="+mn-cs"/>
                        </a:rPr>
                        <a:t>(</a:t>
                      </a:r>
                      <a:endParaRPr lang="he-IL" sz="2400" b="1" kern="1200" dirty="0">
                        <a:solidFill>
                          <a:schemeClr val="lt1"/>
                        </a:solidFill>
                        <a:latin typeface="+mn-lt"/>
                        <a:ea typeface="+mn-ea"/>
                        <a:cs typeface="+mn-cs"/>
                      </a:endParaRPr>
                    </a:p>
                  </a:txBody>
                  <a:tcPr>
                    <a:solidFill>
                      <a:schemeClr val="accent1">
                        <a:lumMod val="50000"/>
                      </a:schemeClr>
                    </a:solidFill>
                  </a:tcPr>
                </a:tc>
                <a:extLst>
                  <a:ext uri="{0D108BD9-81ED-4DB2-BD59-A6C34878D82A}">
                    <a16:rowId xmlns:a16="http://schemas.microsoft.com/office/drawing/2014/main" val="297336933"/>
                  </a:ext>
                </a:extLst>
              </a:tr>
              <a:tr h="894884">
                <a:tc>
                  <a:txBody>
                    <a:bodyPr/>
                    <a:lstStyle/>
                    <a:p>
                      <a:pPr algn="ctr" rtl="1"/>
                      <a:r>
                        <a:rPr lang="en-US" dirty="0"/>
                        <a:t>Psoriasis</a:t>
                      </a:r>
                      <a:endParaRPr lang="he-IL" dirty="0"/>
                    </a:p>
                  </a:txBody>
                  <a:tcPr/>
                </a:tc>
                <a:tc>
                  <a:txBody>
                    <a:bodyPr/>
                    <a:lstStyle/>
                    <a:p>
                      <a:pPr rtl="1"/>
                      <a:r>
                        <a:rPr lang="en-US" sz="1800" b="0" i="0" kern="1200" dirty="0">
                          <a:solidFill>
                            <a:schemeClr val="dk1"/>
                          </a:solidFill>
                          <a:effectLst/>
                          <a:latin typeface="+mn-lt"/>
                          <a:ea typeface="+mn-ea"/>
                          <a:cs typeface="+mn-cs"/>
                        </a:rPr>
                        <a:t>Um, doc... (pauses) I've been having this... this trouble with my skin, you see. It's just so sensitive all of a sudden. Even when I'm out in the garden on a lovely day, and it's warm... (hesitates) oh dear, what was I saying? Ah yes, warm weather. My skin gets all red and irritated, like a rash or something. And then it starts to itch, terrible itching. Can't even wear my nice new scarf without breaking out in hives... (pauses again) And the nails! Goodness gracious, have you ever seen anything like this? Dents on my fingernails, all uneven and whatnot. It's as if... (stammers) I think it might be that time of year again, you know, when the pollen counts are high... (starts to digress) Did I tell you about the time I got a new cat, Whiskers? She was such a sweet thing, always purring on my lap... (trails off). Where was I? Ah yes, the nails. It's like they're trying to tell me something, but what, I don't know. And it started so suddenly! One day fine, next day... (pauses) Oh dear, I remember now: it happened after that big storm we had last month. Maybe it was something in the air? Or maybe it's just my imagination playing tricks on me... (chuckles nervously)</a:t>
                      </a:r>
                    </a:p>
                    <a:p>
                      <a:pPr rtl="1"/>
                      <a:r>
                        <a:rPr lang="en-US" sz="1800" b="0" i="0" kern="1200" dirty="0">
                          <a:solidFill>
                            <a:schemeClr val="dk1"/>
                          </a:solidFill>
                          <a:effectLst/>
                          <a:latin typeface="+mn-lt"/>
                          <a:ea typeface="+mn-ea"/>
                          <a:cs typeface="+mn-cs"/>
                        </a:rPr>
                        <a:t>I'm worried about this sudden change, doc... (hesitates again) If I can just get to the bottom of what's causing it all... (trails off into incoherent muttering)</a:t>
                      </a:r>
                      <a:endParaRPr lang="he-IL" dirty="0"/>
                    </a:p>
                  </a:txBody>
                  <a:tcPr/>
                </a:tc>
                <a:tc>
                  <a:txBody>
                    <a:bodyPr/>
                    <a:lstStyle/>
                    <a:p>
                      <a:pPr marL="0" algn="ctr" defTabSz="914400" rtl="1" eaLnBrk="1" latinLnBrk="0" hangingPunct="1"/>
                      <a:r>
                        <a:rPr lang="en-US" sz="2400" b="1" kern="1200" dirty="0">
                          <a:solidFill>
                            <a:schemeClr val="lt1"/>
                          </a:solidFill>
                          <a:latin typeface="+mn-lt"/>
                          <a:ea typeface="+mn-ea"/>
                          <a:cs typeface="+mn-cs"/>
                        </a:rPr>
                        <a:t>Heavy Noise (150-390)</a:t>
                      </a:r>
                      <a:endParaRPr lang="he-IL" sz="2400" b="1" kern="1200" dirty="0">
                        <a:solidFill>
                          <a:schemeClr val="lt1"/>
                        </a:solidFill>
                        <a:latin typeface="+mn-lt"/>
                        <a:ea typeface="+mn-ea"/>
                        <a:cs typeface="+mn-cs"/>
                      </a:endParaRPr>
                    </a:p>
                  </a:txBody>
                  <a:tcPr>
                    <a:solidFill>
                      <a:schemeClr val="accent1">
                        <a:lumMod val="50000"/>
                      </a:schemeClr>
                    </a:solidFill>
                  </a:tcPr>
                </a:tc>
                <a:extLst>
                  <a:ext uri="{0D108BD9-81ED-4DB2-BD59-A6C34878D82A}">
                    <a16:rowId xmlns:a16="http://schemas.microsoft.com/office/drawing/2014/main" val="2537694461"/>
                  </a:ext>
                </a:extLst>
              </a:tr>
            </a:tbl>
          </a:graphicData>
        </a:graphic>
      </p:graphicFrame>
    </p:spTree>
    <p:extLst>
      <p:ext uri="{BB962C8B-B14F-4D97-AF65-F5344CB8AC3E}">
        <p14:creationId xmlns:p14="http://schemas.microsoft.com/office/powerpoint/2010/main" val="4210479626"/>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alpha val="75000"/>
          </a:schemeClr>
        </a:solidFill>
        <a:effectLst/>
      </p:bgPr>
    </p:bg>
    <p:spTree>
      <p:nvGrpSpPr>
        <p:cNvPr id="1" name="">
          <a:extLst>
            <a:ext uri="{FF2B5EF4-FFF2-40B4-BE49-F238E27FC236}">
              <a16:creationId xmlns:a16="http://schemas.microsoft.com/office/drawing/2014/main" id="{9E6E9B87-32DF-C1E1-843F-8A071CC57A6D}"/>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942D9EDF-E000-3BE2-81E1-A37DBE735446}"/>
              </a:ext>
            </a:extLst>
          </p:cNvPr>
          <p:cNvSpPr txBox="1"/>
          <p:nvPr/>
        </p:nvSpPr>
        <p:spPr>
          <a:xfrm>
            <a:off x="4470351" y="72189"/>
            <a:ext cx="9347289" cy="1437023"/>
          </a:xfrm>
          <a:prstGeom prst="rect">
            <a:avLst/>
          </a:prstGeom>
        </p:spPr>
        <p:txBody>
          <a:bodyPr lIns="0" tIns="0" rIns="0" bIns="0" rtlCol="0" anchor="t">
            <a:spAutoFit/>
          </a:bodyPr>
          <a:lstStyle/>
          <a:p>
            <a:pPr algn="ctr">
              <a:lnSpc>
                <a:spcPts val="11747"/>
              </a:lnSpc>
              <a:spcBef>
                <a:spcPct val="0"/>
              </a:spcBef>
            </a:pPr>
            <a:r>
              <a:rPr lang="en-US" sz="8391" dirty="0">
                <a:solidFill>
                  <a:schemeClr val="accent1">
                    <a:lumMod val="50000"/>
                  </a:schemeClr>
                </a:solidFill>
                <a:latin typeface="Anton"/>
                <a:ea typeface="Anton"/>
                <a:cs typeface="Anton"/>
                <a:sym typeface="Anton"/>
              </a:rPr>
              <a:t>Previous works</a:t>
            </a:r>
          </a:p>
        </p:txBody>
      </p:sp>
      <p:graphicFrame>
        <p:nvGraphicFramePr>
          <p:cNvPr id="10" name="טבלה 9">
            <a:extLst>
              <a:ext uri="{FF2B5EF4-FFF2-40B4-BE49-F238E27FC236}">
                <a16:creationId xmlns:a16="http://schemas.microsoft.com/office/drawing/2014/main" id="{9C09AFFE-53B8-0188-300A-789CE7BCA06F}"/>
              </a:ext>
            </a:extLst>
          </p:cNvPr>
          <p:cNvGraphicFramePr>
            <a:graphicFrameLocks noGrp="1"/>
          </p:cNvGraphicFramePr>
          <p:nvPr>
            <p:extLst>
              <p:ext uri="{D42A27DB-BD31-4B8C-83A1-F6EECF244321}">
                <p14:modId xmlns:p14="http://schemas.microsoft.com/office/powerpoint/2010/main" val="4140725378"/>
              </p:ext>
            </p:extLst>
          </p:nvPr>
        </p:nvGraphicFramePr>
        <p:xfrm>
          <a:off x="152394" y="1456944"/>
          <a:ext cx="17983205" cy="8785860"/>
        </p:xfrm>
        <a:graphic>
          <a:graphicData uri="http://schemas.openxmlformats.org/drawingml/2006/table">
            <a:tbl>
              <a:tblPr rtl="1" firstRow="1" bandRow="1">
                <a:tableStyleId>{5C22544A-7EE6-4342-B048-85BDC9FD1C3A}</a:tableStyleId>
              </a:tblPr>
              <a:tblGrid>
                <a:gridCol w="5038208">
                  <a:extLst>
                    <a:ext uri="{9D8B030D-6E8A-4147-A177-3AD203B41FA5}">
                      <a16:colId xmlns:a16="http://schemas.microsoft.com/office/drawing/2014/main" val="4043141790"/>
                    </a:ext>
                  </a:extLst>
                </a:gridCol>
                <a:gridCol w="4862537">
                  <a:extLst>
                    <a:ext uri="{9D8B030D-6E8A-4147-A177-3AD203B41FA5}">
                      <a16:colId xmlns:a16="http://schemas.microsoft.com/office/drawing/2014/main" val="137808335"/>
                    </a:ext>
                  </a:extLst>
                </a:gridCol>
                <a:gridCol w="5580260">
                  <a:extLst>
                    <a:ext uri="{9D8B030D-6E8A-4147-A177-3AD203B41FA5}">
                      <a16:colId xmlns:a16="http://schemas.microsoft.com/office/drawing/2014/main" val="4214491694"/>
                    </a:ext>
                  </a:extLst>
                </a:gridCol>
                <a:gridCol w="2502200">
                  <a:extLst>
                    <a:ext uri="{9D8B030D-6E8A-4147-A177-3AD203B41FA5}">
                      <a16:colId xmlns:a16="http://schemas.microsoft.com/office/drawing/2014/main" val="2838907043"/>
                    </a:ext>
                  </a:extLst>
                </a:gridCol>
              </a:tblGrid>
              <a:tr h="1470660">
                <a:tc>
                  <a:txBody>
                    <a:bodyPr/>
                    <a:lstStyle/>
                    <a:p>
                      <a:pPr algn="ctr" rtl="1"/>
                      <a:r>
                        <a:rPr lang="en-US" sz="2400" dirty="0">
                          <a:solidFill>
                            <a:schemeClr val="bg1"/>
                          </a:solidFill>
                          <a:hlinkClick r:id="rId2">
                            <a:extLst>
                              <a:ext uri="{A12FA001-AC4F-418D-AE19-62706E023703}">
                                <ahyp:hlinkClr xmlns:ahyp="http://schemas.microsoft.com/office/drawing/2018/hyperlinkcolor" val="tx"/>
                              </a:ext>
                            </a:extLst>
                          </a:hlinkClick>
                        </a:rPr>
                        <a:t>“Deep learning models are not robust against noise in clinical text</a:t>
                      </a:r>
                      <a:r>
                        <a:rPr lang="en-US" sz="2400" dirty="0">
                          <a:solidFill>
                            <a:schemeClr val="bg1"/>
                          </a:solidFill>
                        </a:rPr>
                        <a:t>”, 2021</a:t>
                      </a:r>
                      <a:endParaRPr lang="he-IL" sz="2400" dirty="0">
                        <a:solidFill>
                          <a:schemeClr val="bg1"/>
                        </a:solidFill>
                      </a:endParaRPr>
                    </a:p>
                  </a:txBody>
                  <a:tcPr>
                    <a:solidFill>
                      <a:schemeClr val="accent1">
                        <a:lumMod val="50000"/>
                      </a:schemeClr>
                    </a:solidFill>
                  </a:tcPr>
                </a:tc>
                <a:tc>
                  <a:txBody>
                    <a:bodyPr/>
                    <a:lstStyle/>
                    <a:p>
                      <a:pPr algn="ctr" rtl="1"/>
                      <a:r>
                        <a:rPr lang="en-US" sz="2400" b="1" dirty="0" err="1">
                          <a:solidFill>
                            <a:schemeClr val="bg1"/>
                          </a:solidFill>
                          <a:hlinkClick r:id="rId3">
                            <a:extLst>
                              <a:ext uri="{A12FA001-AC4F-418D-AE19-62706E023703}">
                                <ahyp:hlinkClr xmlns:ahyp="http://schemas.microsoft.com/office/drawing/2018/hyperlinkcolor" val="tx"/>
                              </a:ext>
                            </a:extLst>
                          </a:hlinkClick>
                        </a:rPr>
                        <a:t>DiagnoAI</a:t>
                      </a:r>
                      <a:r>
                        <a:rPr lang="en-US" sz="2400" b="1" dirty="0">
                          <a:solidFill>
                            <a:schemeClr val="bg1"/>
                          </a:solidFill>
                          <a:hlinkClick r:id="rId3">
                            <a:extLst>
                              <a:ext uri="{A12FA001-AC4F-418D-AE19-62706E023703}">
                                <ahyp:hlinkClr xmlns:ahyp="http://schemas.microsoft.com/office/drawing/2018/hyperlinkcolor" val="tx"/>
                              </a:ext>
                            </a:extLst>
                          </a:hlinkClick>
                        </a:rPr>
                        <a:t>, </a:t>
                      </a:r>
                      <a:r>
                        <a:rPr lang="en-US" sz="2400" dirty="0">
                          <a:solidFill>
                            <a:schemeClr val="bg1"/>
                          </a:solidFill>
                          <a:hlinkClick r:id="rId3">
                            <a:extLst>
                              <a:ext uri="{A12FA001-AC4F-418D-AE19-62706E023703}">
                                <ahyp:hlinkClr xmlns:ahyp="http://schemas.microsoft.com/office/drawing/2018/hyperlinkcolor" val="tx"/>
                              </a:ext>
                            </a:extLst>
                          </a:hlinkClick>
                        </a:rPr>
                        <a:t>2022</a:t>
                      </a:r>
                      <a:endParaRPr lang="he-IL" sz="2400" dirty="0">
                        <a:solidFill>
                          <a:schemeClr val="bg1"/>
                        </a:solidFill>
                      </a:endParaRPr>
                    </a:p>
                  </a:txBody>
                  <a:tcPr>
                    <a:solidFill>
                      <a:schemeClr val="accent1">
                        <a:lumMod val="50000"/>
                      </a:schemeClr>
                    </a:solidFill>
                  </a:tcPr>
                </a:tc>
                <a:tc>
                  <a:txBody>
                    <a:bodyPr/>
                    <a:lstStyle/>
                    <a:p>
                      <a:pPr algn="ctr" rtl="1"/>
                      <a:r>
                        <a:rPr lang="en-US" sz="2400" u="none" dirty="0">
                          <a:solidFill>
                            <a:schemeClr val="bg1"/>
                          </a:solidFill>
                          <a:hlinkClick r:id="rId4">
                            <a:extLst>
                              <a:ext uri="{A12FA001-AC4F-418D-AE19-62706E023703}">
                                <ahyp:hlinkClr xmlns:ahyp="http://schemas.microsoft.com/office/drawing/2018/hyperlinkcolor" val="tx"/>
                              </a:ext>
                            </a:extLst>
                          </a:hlinkClick>
                        </a:rPr>
                        <a:t>“Optimizing </a:t>
                      </a:r>
                      <a:r>
                        <a:rPr lang="en-US" sz="2400" u="none" dirty="0" err="1">
                          <a:solidFill>
                            <a:schemeClr val="bg1"/>
                          </a:solidFill>
                          <a:hlinkClick r:id="rId4">
                            <a:extLst>
                              <a:ext uri="{A12FA001-AC4F-418D-AE19-62706E023703}">
                                <ahyp:hlinkClr xmlns:ahyp="http://schemas.microsoft.com/office/drawing/2018/hyperlinkcolor" val="tx"/>
                              </a:ext>
                            </a:extLst>
                          </a:hlinkClick>
                        </a:rPr>
                        <a:t>classifcation</a:t>
                      </a:r>
                      <a:r>
                        <a:rPr lang="en-US" sz="2400" u="none" dirty="0">
                          <a:solidFill>
                            <a:schemeClr val="bg1"/>
                          </a:solidFill>
                          <a:hlinkClick r:id="rId4">
                            <a:extLst>
                              <a:ext uri="{A12FA001-AC4F-418D-AE19-62706E023703}">
                                <ahyp:hlinkClr xmlns:ahyp="http://schemas.microsoft.com/office/drawing/2018/hyperlinkcolor" val="tx"/>
                              </a:ext>
                            </a:extLst>
                          </a:hlinkClick>
                        </a:rPr>
                        <a:t> of diseases through language model analysis of symptoms”, 2024</a:t>
                      </a:r>
                      <a:endParaRPr lang="he-IL" sz="2400" u="none" dirty="0">
                        <a:solidFill>
                          <a:schemeClr val="bg1"/>
                        </a:solidFill>
                      </a:endParaRPr>
                    </a:p>
                  </a:txBody>
                  <a:tcPr>
                    <a:solidFill>
                      <a:schemeClr val="accent1">
                        <a:lumMod val="50000"/>
                      </a:schemeClr>
                    </a:solidFill>
                  </a:tcPr>
                </a:tc>
                <a:tc>
                  <a:txBody>
                    <a:bodyPr/>
                    <a:lstStyle/>
                    <a:p>
                      <a:pPr algn="ctr" rtl="1"/>
                      <a:r>
                        <a:rPr lang="en-US" sz="2400" dirty="0"/>
                        <a:t>Source/Title</a:t>
                      </a:r>
                      <a:endParaRPr lang="he-IL" sz="2400" dirty="0"/>
                    </a:p>
                  </a:txBody>
                  <a:tcPr>
                    <a:solidFill>
                      <a:schemeClr val="accent1">
                        <a:lumMod val="50000"/>
                      </a:schemeClr>
                    </a:solidFill>
                  </a:tcPr>
                </a:tc>
                <a:extLst>
                  <a:ext uri="{0D108BD9-81ED-4DB2-BD59-A6C34878D82A}">
                    <a16:rowId xmlns:a16="http://schemas.microsoft.com/office/drawing/2014/main" val="1130359397"/>
                  </a:ext>
                </a:extLst>
              </a:tr>
              <a:tr h="559852">
                <a:tc>
                  <a:txBody>
                    <a:bodyPr/>
                    <a:lstStyle/>
                    <a:p>
                      <a:pPr algn="l" rtl="1"/>
                      <a:r>
                        <a:rPr lang="en-US" dirty="0"/>
                        <a:t>Named Entity Recognition (NER), Relation Extraction (RE), Textual Inference (TI), Semantic Similarity (SS)</a:t>
                      </a:r>
                      <a:endParaRPr lang="he-IL" dirty="0"/>
                    </a:p>
                  </a:txBody>
                  <a:tcPr/>
                </a:tc>
                <a:tc>
                  <a:txBody>
                    <a:bodyPr/>
                    <a:lstStyle/>
                    <a:p>
                      <a:pPr algn="l" rtl="1"/>
                      <a:r>
                        <a:rPr lang="en-US" dirty="0"/>
                        <a:t>Disease prediction from symptom descriptions</a:t>
                      </a:r>
                      <a:endParaRPr lang="he-IL" dirty="0"/>
                    </a:p>
                  </a:txBody>
                  <a:tcPr/>
                </a:tc>
                <a:tc>
                  <a:txBody>
                    <a:bodyPr/>
                    <a:lstStyle/>
                    <a:p>
                      <a:pPr rtl="1"/>
                      <a:r>
                        <a:rPr lang="en-US" dirty="0"/>
                        <a:t>Disease prediction from symptom descriptions</a:t>
                      </a:r>
                      <a:endParaRPr lang="he-IL" dirty="0"/>
                    </a:p>
                  </a:txBody>
                  <a:tcPr/>
                </a:tc>
                <a:tc>
                  <a:txBody>
                    <a:bodyPr/>
                    <a:lstStyle/>
                    <a:p>
                      <a:pPr marL="0" algn="ctr" defTabSz="914400" rtl="1" eaLnBrk="1" latinLnBrk="0" hangingPunct="1"/>
                      <a:r>
                        <a:rPr lang="en-US" sz="2400" b="1" kern="1200" dirty="0">
                          <a:solidFill>
                            <a:schemeClr val="lt1"/>
                          </a:solidFill>
                          <a:latin typeface="+mn-lt"/>
                          <a:ea typeface="+mn-ea"/>
                          <a:cs typeface="+mn-cs"/>
                        </a:rPr>
                        <a:t>Task solved</a:t>
                      </a:r>
                    </a:p>
                    <a:p>
                      <a:pPr marL="0" algn="ctr" defTabSz="914400" rtl="1" eaLnBrk="1" latinLnBrk="0" hangingPunct="1"/>
                      <a:endParaRPr lang="he-IL" sz="2400" b="1" kern="1200" dirty="0">
                        <a:solidFill>
                          <a:schemeClr val="lt1"/>
                        </a:solidFill>
                        <a:latin typeface="+mn-lt"/>
                        <a:ea typeface="+mn-ea"/>
                        <a:cs typeface="+mn-cs"/>
                      </a:endParaRPr>
                    </a:p>
                  </a:txBody>
                  <a:tcPr>
                    <a:solidFill>
                      <a:schemeClr val="accent1">
                        <a:lumMod val="50000"/>
                      </a:schemeClr>
                    </a:solidFill>
                  </a:tcPr>
                </a:tc>
                <a:extLst>
                  <a:ext uri="{0D108BD9-81ED-4DB2-BD59-A6C34878D82A}">
                    <a16:rowId xmlns:a16="http://schemas.microsoft.com/office/drawing/2014/main" val="749502633"/>
                  </a:ext>
                </a:extLst>
              </a:tr>
              <a:tr h="430625">
                <a:tc>
                  <a:txBody>
                    <a:bodyPr/>
                    <a:lstStyle/>
                    <a:p>
                      <a:pPr algn="l" rtl="1"/>
                      <a:r>
                        <a:rPr lang="en-US" dirty="0"/>
                        <a:t>Fine-tuned transformer of </a:t>
                      </a:r>
                      <a:r>
                        <a:rPr lang="en-US" dirty="0" err="1"/>
                        <a:t>ClinicalBERT</a:t>
                      </a:r>
                      <a:r>
                        <a:rPr lang="en-US" dirty="0"/>
                        <a:t>, </a:t>
                      </a:r>
                      <a:r>
                        <a:rPr lang="en-US" dirty="0" err="1"/>
                        <a:t>ClinicalXLNet</a:t>
                      </a:r>
                      <a:r>
                        <a:rPr lang="en-US" dirty="0"/>
                        <a:t>, </a:t>
                      </a:r>
                      <a:r>
                        <a:rPr lang="en-US" dirty="0" err="1"/>
                        <a:t>ClinicalELMo</a:t>
                      </a:r>
                      <a:r>
                        <a:rPr lang="en-US" dirty="0"/>
                        <a:t> for each task. introduced controlled character and word-level perturbations and measured performance drops to assess robustness to noisy input.</a:t>
                      </a:r>
                      <a:endParaRPr lang="he-IL" dirty="0"/>
                    </a:p>
                  </a:txBody>
                  <a:tcPr/>
                </a:tc>
                <a:tc>
                  <a:txBody>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dirty="0"/>
                        <a:t>Manually generated patient symptom based on symptom lists from Kaggle's dataset, Created 50 descriptions per disease. Fine-tuned all layers of pretrained BERT (TensorFlow) using </a:t>
                      </a:r>
                      <a:r>
                        <a:rPr lang="en-US" dirty="0" err="1"/>
                        <a:t>SparseCategoricalCrossentropy</a:t>
                      </a:r>
                      <a:r>
                        <a:rPr lang="en-US" dirty="0"/>
                        <a:t> and Adam optimizer.</a:t>
                      </a:r>
                      <a:endParaRPr lang="he-IL" dirty="0"/>
                    </a:p>
                  </a:txBody>
                  <a:tcPr/>
                </a:tc>
                <a:tc>
                  <a:txBody>
                    <a:bodyPr/>
                    <a:lstStyle/>
                    <a:p>
                      <a:pPr rtl="1"/>
                      <a:r>
                        <a:rPr lang="en-US" dirty="0"/>
                        <a:t>Fine‑tuned BERT with Medical Concept Normalization, optimized separately with </a:t>
                      </a:r>
                      <a:r>
                        <a:rPr lang="en-US" dirty="0" err="1"/>
                        <a:t>AdamP</a:t>
                      </a:r>
                      <a:r>
                        <a:rPr lang="en-US" dirty="0"/>
                        <a:t> and </a:t>
                      </a:r>
                      <a:r>
                        <a:rPr lang="en-US" dirty="0" err="1"/>
                        <a:t>AdamW</a:t>
                      </a:r>
                      <a:r>
                        <a:rPr lang="en-US" dirty="0"/>
                        <a:t> and a Bidirectional LSTM model tuned via </a:t>
                      </a:r>
                      <a:r>
                        <a:rPr lang="en-US" dirty="0" err="1"/>
                        <a:t>Hyperopt</a:t>
                      </a:r>
                      <a:r>
                        <a:rPr lang="en-US" dirty="0"/>
                        <a:t>.</a:t>
                      </a:r>
                      <a:endParaRPr lang="he-IL" dirty="0"/>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2400" b="1" kern="1200" dirty="0">
                          <a:solidFill>
                            <a:schemeClr val="lt1"/>
                          </a:solidFill>
                          <a:latin typeface="+mn-lt"/>
                          <a:ea typeface="+mn-ea"/>
                          <a:cs typeface="+mn-cs"/>
                        </a:rPr>
                        <a:t>Approach/Model</a:t>
                      </a:r>
                    </a:p>
                    <a:p>
                      <a:pPr marL="0" algn="ctr" defTabSz="914400" rtl="1" eaLnBrk="1" latinLnBrk="0" hangingPunct="1"/>
                      <a:endParaRPr lang="he-IL" sz="2400" b="1" kern="1200" dirty="0">
                        <a:solidFill>
                          <a:schemeClr val="lt1"/>
                        </a:solidFill>
                        <a:latin typeface="+mn-lt"/>
                        <a:ea typeface="+mn-ea"/>
                        <a:cs typeface="+mn-cs"/>
                      </a:endParaRPr>
                    </a:p>
                  </a:txBody>
                  <a:tcPr>
                    <a:solidFill>
                      <a:schemeClr val="accent1">
                        <a:lumMod val="50000"/>
                      </a:schemeClr>
                    </a:solidFill>
                  </a:tcPr>
                </a:tc>
                <a:extLst>
                  <a:ext uri="{0D108BD9-81ED-4DB2-BD59-A6C34878D82A}">
                    <a16:rowId xmlns:a16="http://schemas.microsoft.com/office/drawing/2014/main" val="297336933"/>
                  </a:ext>
                </a:extLst>
              </a:tr>
              <a:tr h="544612">
                <a:tc>
                  <a:txBody>
                    <a:bodyPr/>
                    <a:lstStyle/>
                    <a:p>
                      <a:pPr algn="l" rtl="1"/>
                      <a:r>
                        <a:rPr lang="en-US" dirty="0"/>
                        <a:t>EBM PICO clinical trial abstracts</a:t>
                      </a:r>
                      <a:br>
                        <a:rPr lang="en-US" dirty="0"/>
                      </a:br>
                      <a:r>
                        <a:rPr lang="en-US" dirty="0"/>
                        <a:t>i2b2-2010 annotated patient reports</a:t>
                      </a:r>
                      <a:br>
                        <a:rPr lang="en-US" dirty="0"/>
                      </a:br>
                      <a:r>
                        <a:rPr lang="en-US" dirty="0" err="1"/>
                        <a:t>MedNLI</a:t>
                      </a:r>
                      <a:r>
                        <a:rPr lang="en-US" dirty="0"/>
                        <a:t> sentence pairs</a:t>
                      </a:r>
                      <a:br>
                        <a:rPr lang="en-US" dirty="0"/>
                      </a:br>
                      <a:r>
                        <a:rPr lang="en-US" dirty="0"/>
                        <a:t>ClinicalSTS-2019 sentence pairs</a:t>
                      </a:r>
                      <a:endParaRPr lang="he-IL" dirty="0"/>
                    </a:p>
                  </a:txBody>
                  <a:tcPr/>
                </a:tc>
                <a:tc>
                  <a:txBody>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u="none" dirty="0"/>
                        <a:t>Disease Symptom </a:t>
                      </a:r>
                      <a:r>
                        <a:rPr lang="en-US" dirty="0"/>
                        <a:t>Prediction </a:t>
                      </a:r>
                      <a:r>
                        <a:rPr lang="en-US" u="none" dirty="0"/>
                        <a:t>Dataset</a:t>
                      </a:r>
                      <a:endParaRPr lang="he-IL" u="none" dirty="0"/>
                    </a:p>
                    <a:p>
                      <a:pPr algn="l" rtl="1"/>
                      <a:endParaRPr lang="he-IL" u="none" dirty="0"/>
                    </a:p>
                  </a:txBody>
                  <a:tcPr/>
                </a:tc>
                <a:tc>
                  <a:txBody>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dirty="0"/>
                        <a:t>Symptom2Disease</a:t>
                      </a:r>
                      <a:endParaRPr lang="he-IL" dirty="0"/>
                    </a:p>
                    <a:p>
                      <a:pPr rtl="1"/>
                      <a:endParaRPr lang="he-IL" dirty="0"/>
                    </a:p>
                  </a:txBody>
                  <a:tcPr/>
                </a:tc>
                <a:tc>
                  <a:txBody>
                    <a:bodyPr/>
                    <a:lstStyle/>
                    <a:p>
                      <a:pPr marL="0" algn="ctr" defTabSz="914400" rtl="1" eaLnBrk="1" latinLnBrk="0" hangingPunct="1"/>
                      <a:r>
                        <a:rPr lang="en-US" sz="2400" b="1" kern="1200" dirty="0">
                          <a:solidFill>
                            <a:schemeClr val="lt1"/>
                          </a:solidFill>
                          <a:latin typeface="+mn-lt"/>
                          <a:ea typeface="+mn-ea"/>
                          <a:cs typeface="+mn-cs"/>
                        </a:rPr>
                        <a:t>Data</a:t>
                      </a:r>
                      <a:endParaRPr lang="he-IL" sz="2400" b="1" kern="1200" dirty="0">
                        <a:solidFill>
                          <a:schemeClr val="lt1"/>
                        </a:solidFill>
                        <a:latin typeface="+mn-lt"/>
                        <a:ea typeface="+mn-ea"/>
                        <a:cs typeface="+mn-cs"/>
                      </a:endParaRPr>
                    </a:p>
                  </a:txBody>
                  <a:tcPr>
                    <a:solidFill>
                      <a:schemeClr val="accent1">
                        <a:lumMod val="50000"/>
                      </a:schemeClr>
                    </a:solidFill>
                  </a:tcPr>
                </a:tc>
                <a:extLst>
                  <a:ext uri="{0D108BD9-81ED-4DB2-BD59-A6C34878D82A}">
                    <a16:rowId xmlns:a16="http://schemas.microsoft.com/office/drawing/2014/main" val="2479013382"/>
                  </a:ext>
                </a:extLst>
              </a:tr>
              <a:tr h="0">
                <a:tc>
                  <a:txBody>
                    <a:bodyPr/>
                    <a:lstStyle/>
                    <a:p>
                      <a:pPr algn="l" rtl="1"/>
                      <a:r>
                        <a:rPr lang="en-US" dirty="0"/>
                        <a:t>NER: Entity-level F1, RE: Micro F1, TI: Accuracy,  SS: Pearson correlation</a:t>
                      </a:r>
                      <a:endParaRPr lang="he-IL" dirty="0"/>
                    </a:p>
                  </a:txBody>
                  <a:tcPr/>
                </a:tc>
                <a:tc>
                  <a:txBody>
                    <a:bodyPr/>
                    <a:lstStyle/>
                    <a:p>
                      <a:pPr algn="l" rtl="1"/>
                      <a:r>
                        <a:rPr lang="en-US" dirty="0"/>
                        <a:t>Accuracy</a:t>
                      </a:r>
                      <a:endParaRPr lang="he-IL" dirty="0"/>
                    </a:p>
                  </a:txBody>
                  <a:tcPr/>
                </a:tc>
                <a:tc>
                  <a:txBody>
                    <a:bodyPr/>
                    <a:lstStyle/>
                    <a:p>
                      <a:pPr rtl="1"/>
                      <a:r>
                        <a:rPr lang="en-US" dirty="0"/>
                        <a:t>Accuracy, Precision, Recall  and F1-Score</a:t>
                      </a:r>
                      <a:br>
                        <a:rPr lang="en-US" dirty="0"/>
                      </a:br>
                      <a:endParaRPr lang="he-IL" dirty="0"/>
                    </a:p>
                  </a:txBody>
                  <a:tcPr/>
                </a:tc>
                <a:tc>
                  <a:txBody>
                    <a:bodyPr/>
                    <a:lstStyle/>
                    <a:p>
                      <a:pPr marL="0" algn="ctr" defTabSz="914400" rtl="1" eaLnBrk="1" latinLnBrk="0" hangingPunct="1"/>
                      <a:r>
                        <a:rPr lang="en-US" sz="2400" b="1" kern="1200" dirty="0">
                          <a:solidFill>
                            <a:schemeClr val="lt1"/>
                          </a:solidFill>
                          <a:latin typeface="+mn-lt"/>
                          <a:ea typeface="+mn-ea"/>
                          <a:cs typeface="+mn-cs"/>
                        </a:rPr>
                        <a:t>Metrics</a:t>
                      </a:r>
                    </a:p>
                  </a:txBody>
                  <a:tcPr>
                    <a:solidFill>
                      <a:schemeClr val="accent1">
                        <a:lumMod val="50000"/>
                      </a:schemeClr>
                    </a:solidFill>
                  </a:tcPr>
                </a:tc>
                <a:extLst>
                  <a:ext uri="{0D108BD9-81ED-4DB2-BD59-A6C34878D82A}">
                    <a16:rowId xmlns:a16="http://schemas.microsoft.com/office/drawing/2014/main" val="2537694461"/>
                  </a:ext>
                </a:extLst>
              </a:tr>
              <a:tr h="1367233">
                <a:tc>
                  <a:txBody>
                    <a:bodyPr/>
                    <a:lstStyle/>
                    <a:p>
                      <a:pPr algn="l" rtl="1"/>
                      <a:r>
                        <a:rPr lang="en-US" b="0" dirty="0"/>
                        <a:t>Clean (PPS=0): </a:t>
                      </a:r>
                      <a:r>
                        <a:rPr lang="en-US" b="0" dirty="0" err="1"/>
                        <a:t>ClinicalBERT</a:t>
                      </a:r>
                      <a:r>
                        <a:rPr lang="en-US" b="0" dirty="0"/>
                        <a:t> model with NER F1=73.61, RE F1=73.17, TI Accuracy=82.35, SS Pearson=83.71. </a:t>
                      </a:r>
                      <a:r>
                        <a:rPr lang="en-US" b="0" dirty="0" err="1"/>
                        <a:t>ClinicalXLNet</a:t>
                      </a:r>
                      <a:r>
                        <a:rPr lang="en-US" b="0" dirty="0"/>
                        <a:t> model with NER=77.68, RE=74.06, TI=85.12, SS=85.88. </a:t>
                      </a:r>
                      <a:r>
                        <a:rPr lang="en-US" b="0" dirty="0" err="1"/>
                        <a:t>ClinicalELMo</a:t>
                      </a:r>
                      <a:r>
                        <a:rPr lang="en-US" b="0" dirty="0"/>
                        <a:t> model with NER=69.44, RE=69.49, TI=78.51, SS=77.37.</a:t>
                      </a:r>
                      <a:br>
                        <a:rPr lang="en-US" b="0" dirty="0"/>
                      </a:br>
                      <a:r>
                        <a:rPr lang="en-US" b="0" dirty="0"/>
                        <a:t>PPS=1 noise: Character-level drops of 4.14–8.87 points, word-level drops of 5.62–11.52 points across tasks, demonstrating high sensitivity even to small amounts of noise.</a:t>
                      </a:r>
                      <a:endParaRPr lang="he-IL" b="0" dirty="0"/>
                    </a:p>
                  </a:txBody>
                  <a:tcPr/>
                </a:tc>
                <a:tc>
                  <a:txBody>
                    <a:bodyPr/>
                    <a:lstStyle/>
                    <a:p>
                      <a:pPr algn="l" rtl="1"/>
                      <a:r>
                        <a:rPr lang="en-US" b="0" dirty="0"/>
                        <a:t>Validation Accuracy: 98.33%</a:t>
                      </a:r>
                      <a:endParaRPr lang="he-IL" b="0" dirty="0"/>
                    </a:p>
                  </a:txBody>
                  <a:tcPr/>
                </a:tc>
                <a:tc>
                  <a:txBody>
                    <a:bodyPr/>
                    <a:lstStyle/>
                    <a:p>
                      <a:pPr rtl="1"/>
                      <a:r>
                        <a:rPr lang="en-US" b="0" dirty="0"/>
                        <a:t>MCN-BERT + </a:t>
                      </a:r>
                      <a:r>
                        <a:rPr lang="en-US" b="0" dirty="0" err="1"/>
                        <a:t>AdamP</a:t>
                      </a:r>
                      <a:r>
                        <a:rPr lang="en-US" b="0" dirty="0"/>
                        <a:t>: 99.58% Accuracy, 99.18% Precision, 99.28% Recall and 99.13% F1-Score.</a:t>
                      </a:r>
                    </a:p>
                    <a:p>
                      <a:pPr rtl="1"/>
                      <a:r>
                        <a:rPr lang="en-US" b="0" dirty="0"/>
                        <a:t>MCN-BERT + </a:t>
                      </a:r>
                      <a:r>
                        <a:rPr lang="en-US" b="0" dirty="0" err="1"/>
                        <a:t>AdamW</a:t>
                      </a:r>
                      <a:r>
                        <a:rPr lang="en-US" b="0" dirty="0"/>
                        <a:t>: 98.33% Accuracy, 98.39% Precision, 98.23% Recall and 98.18% F1-Score. </a:t>
                      </a:r>
                    </a:p>
                    <a:p>
                      <a:pPr rtl="1"/>
                      <a:r>
                        <a:rPr lang="en-US" b="0" dirty="0" err="1"/>
                        <a:t>BiLSTM</a:t>
                      </a:r>
                      <a:r>
                        <a:rPr lang="en-US" b="0" dirty="0"/>
                        <a:t> + </a:t>
                      </a:r>
                      <a:r>
                        <a:rPr lang="en-US" b="0" dirty="0" err="1"/>
                        <a:t>Hyperopt</a:t>
                      </a:r>
                      <a:r>
                        <a:rPr lang="en-US" b="0" dirty="0"/>
                        <a:t>: 97.08% Accuracy, 97.37% Precision, 97.08% Recall and 97.05% F1-Score. </a:t>
                      </a:r>
                      <a:endParaRPr lang="he-IL" b="0" dirty="0"/>
                    </a:p>
                  </a:txBody>
                  <a:tcPr/>
                </a:tc>
                <a:tc>
                  <a:txBody>
                    <a:bodyPr/>
                    <a:lstStyle/>
                    <a:p>
                      <a:pPr marL="0" algn="ctr" defTabSz="914400" rtl="1" eaLnBrk="1" latinLnBrk="0" hangingPunct="1"/>
                      <a:r>
                        <a:rPr lang="en-US" sz="2400" b="1" kern="1200" dirty="0">
                          <a:solidFill>
                            <a:schemeClr val="lt1"/>
                          </a:solidFill>
                          <a:latin typeface="+mn-lt"/>
                          <a:ea typeface="+mn-ea"/>
                          <a:cs typeface="+mn-cs"/>
                        </a:rPr>
                        <a:t>Results</a:t>
                      </a:r>
                      <a:endParaRPr lang="he-IL" sz="2400" b="1" kern="1200" dirty="0">
                        <a:solidFill>
                          <a:schemeClr val="lt1"/>
                        </a:solidFill>
                        <a:latin typeface="+mn-lt"/>
                        <a:ea typeface="+mn-ea"/>
                        <a:cs typeface="+mn-cs"/>
                      </a:endParaRPr>
                    </a:p>
                  </a:txBody>
                  <a:tcPr>
                    <a:solidFill>
                      <a:schemeClr val="accent1">
                        <a:lumMod val="50000"/>
                      </a:schemeClr>
                    </a:solidFill>
                  </a:tcPr>
                </a:tc>
                <a:extLst>
                  <a:ext uri="{0D108BD9-81ED-4DB2-BD59-A6C34878D82A}">
                    <a16:rowId xmlns:a16="http://schemas.microsoft.com/office/drawing/2014/main" val="2920176030"/>
                  </a:ext>
                </a:extLst>
              </a:tr>
            </a:tbl>
          </a:graphicData>
        </a:graphic>
      </p:graphicFrame>
    </p:spTree>
    <p:extLst>
      <p:ext uri="{BB962C8B-B14F-4D97-AF65-F5344CB8AC3E}">
        <p14:creationId xmlns:p14="http://schemas.microsoft.com/office/powerpoint/2010/main" val="783710171"/>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alpha val="75000"/>
          </a:schemeClr>
        </a:solidFill>
        <a:effectLst/>
      </p:bgPr>
    </p:bg>
    <p:spTree>
      <p:nvGrpSpPr>
        <p:cNvPr id="1" name="">
          <a:extLst>
            <a:ext uri="{FF2B5EF4-FFF2-40B4-BE49-F238E27FC236}">
              <a16:creationId xmlns:a16="http://schemas.microsoft.com/office/drawing/2014/main" id="{5C0A937B-071A-C564-7EA4-0A7CECC3A21A}"/>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CD09A11A-C03F-31D5-5DCF-6339BF67C6C4}"/>
              </a:ext>
            </a:extLst>
          </p:cNvPr>
          <p:cNvSpPr txBox="1"/>
          <p:nvPr/>
        </p:nvSpPr>
        <p:spPr>
          <a:xfrm>
            <a:off x="857248" y="419100"/>
            <a:ext cx="16573501" cy="2908040"/>
          </a:xfrm>
          <a:prstGeom prst="rect">
            <a:avLst/>
          </a:prstGeom>
        </p:spPr>
        <p:txBody>
          <a:bodyPr wrap="square" lIns="0" tIns="0" rIns="0" bIns="0" rtlCol="0" anchor="t">
            <a:spAutoFit/>
          </a:bodyPr>
          <a:lstStyle/>
          <a:p>
            <a:pPr algn="ctr">
              <a:lnSpc>
                <a:spcPts val="11747"/>
              </a:lnSpc>
              <a:spcBef>
                <a:spcPct val="0"/>
              </a:spcBef>
            </a:pPr>
            <a:r>
              <a:rPr lang="en-US" sz="8391" dirty="0">
                <a:solidFill>
                  <a:schemeClr val="accent1">
                    <a:lumMod val="50000"/>
                  </a:schemeClr>
                </a:solidFill>
                <a:latin typeface="Anton"/>
                <a:ea typeface="Anton"/>
                <a:cs typeface="Anton"/>
                <a:sym typeface="Anton"/>
              </a:rPr>
              <a:t>Data Preparation- </a:t>
            </a:r>
            <a:br>
              <a:rPr lang="en-US" sz="8391" dirty="0">
                <a:solidFill>
                  <a:schemeClr val="accent1">
                    <a:lumMod val="50000"/>
                  </a:schemeClr>
                </a:solidFill>
                <a:latin typeface="Anton"/>
                <a:ea typeface="Anton"/>
                <a:cs typeface="Anton"/>
                <a:sym typeface="Anton"/>
              </a:rPr>
            </a:br>
            <a:r>
              <a:rPr lang="en-US" sz="8391" dirty="0">
                <a:solidFill>
                  <a:schemeClr val="accent1">
                    <a:lumMod val="50000"/>
                  </a:schemeClr>
                </a:solidFill>
                <a:latin typeface="Anton"/>
                <a:ea typeface="Anton"/>
                <a:cs typeface="Anton"/>
                <a:sym typeface="Anton"/>
              </a:rPr>
              <a:t>From clean data to noise simulation</a:t>
            </a:r>
          </a:p>
        </p:txBody>
      </p:sp>
      <p:sp>
        <p:nvSpPr>
          <p:cNvPr id="6" name="TextBox 8">
            <a:extLst>
              <a:ext uri="{FF2B5EF4-FFF2-40B4-BE49-F238E27FC236}">
                <a16:creationId xmlns:a16="http://schemas.microsoft.com/office/drawing/2014/main" id="{596FAF85-028D-DCF4-D936-1FCA0B11FF30}"/>
              </a:ext>
            </a:extLst>
          </p:cNvPr>
          <p:cNvSpPr txBox="1"/>
          <p:nvPr/>
        </p:nvSpPr>
        <p:spPr>
          <a:xfrm>
            <a:off x="952498" y="3543300"/>
            <a:ext cx="16383000" cy="1970283"/>
          </a:xfrm>
          <a:prstGeom prst="rect">
            <a:avLst/>
          </a:prstGeom>
        </p:spPr>
        <p:txBody>
          <a:bodyPr wrap="square" lIns="0" tIns="0" rIns="0" bIns="0" rtlCol="0" anchor="t">
            <a:spAutoFit/>
          </a:bodyPr>
          <a:lstStyle/>
          <a:p>
            <a:pPr algn="ctr">
              <a:lnSpc>
                <a:spcPts val="3919"/>
              </a:lnSpc>
              <a:spcBef>
                <a:spcPct val="0"/>
              </a:spcBef>
            </a:pPr>
            <a:r>
              <a:rPr lang="en-US" sz="2800" dirty="0">
                <a:latin typeface="Calibri" panose="020F0502020204030204" pitchFamily="34" charset="0"/>
                <a:ea typeface="Calibri" panose="020F0502020204030204" pitchFamily="34" charset="0"/>
                <a:cs typeface="Calibri" panose="020F0502020204030204" pitchFamily="34" charset="0"/>
              </a:rPr>
              <a:t>We used a Kaggle dataset with 1,200 clean symptom descriptions labeled into 24 diseases. Using Llama3.1:8b via </a:t>
            </a:r>
            <a:r>
              <a:rPr lang="en-US" sz="2800" dirty="0" err="1">
                <a:latin typeface="Calibri" panose="020F0502020204030204" pitchFamily="34" charset="0"/>
                <a:ea typeface="Calibri" panose="020F0502020204030204" pitchFamily="34" charset="0"/>
                <a:cs typeface="Calibri" panose="020F0502020204030204" pitchFamily="34" charset="0"/>
              </a:rPr>
              <a:t>Ollama</a:t>
            </a:r>
            <a:r>
              <a:rPr lang="en-US" sz="2800" dirty="0">
                <a:latin typeface="Calibri" panose="020F0502020204030204" pitchFamily="34" charset="0"/>
                <a:ea typeface="Calibri" panose="020F0502020204030204" pitchFamily="34" charset="0"/>
                <a:cs typeface="Calibri" panose="020F0502020204030204" pitchFamily="34" charset="0"/>
              </a:rPr>
              <a:t>, we generated two noisy versions: Medium noise (80–220 words) and Heavy noise (150–390 words). We checked for duplicates and missing values (none were found) . The final dataset contains 3,600 examples, balanced across labels. </a:t>
            </a:r>
          </a:p>
        </p:txBody>
      </p:sp>
      <p:pic>
        <p:nvPicPr>
          <p:cNvPr id="2050" name="Picture 2">
            <a:extLst>
              <a:ext uri="{FF2B5EF4-FFF2-40B4-BE49-F238E27FC236}">
                <a16:creationId xmlns:a16="http://schemas.microsoft.com/office/drawing/2014/main" id="{146174DC-1655-AB04-451B-28DD5E2195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8" y="5729743"/>
            <a:ext cx="6096000" cy="406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0320211"/>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alpha val="75000"/>
          </a:schemeClr>
        </a:solidFill>
        <a:effectLst/>
      </p:bgPr>
    </p:bg>
    <p:spTree>
      <p:nvGrpSpPr>
        <p:cNvPr id="1" name="">
          <a:extLst>
            <a:ext uri="{FF2B5EF4-FFF2-40B4-BE49-F238E27FC236}">
              <a16:creationId xmlns:a16="http://schemas.microsoft.com/office/drawing/2014/main" id="{4DEC9E04-840E-B529-8F3D-3BC1EB363855}"/>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DA632FC3-BF4B-E6B0-6BA7-8C41C68BF4B8}"/>
              </a:ext>
            </a:extLst>
          </p:cNvPr>
          <p:cNvSpPr txBox="1"/>
          <p:nvPr/>
        </p:nvSpPr>
        <p:spPr>
          <a:xfrm>
            <a:off x="1828800" y="247762"/>
            <a:ext cx="14630399" cy="1407629"/>
          </a:xfrm>
          <a:prstGeom prst="rect">
            <a:avLst/>
          </a:prstGeom>
        </p:spPr>
        <p:txBody>
          <a:bodyPr wrap="square" lIns="0" tIns="0" rIns="0" bIns="0" rtlCol="0" anchor="t">
            <a:spAutoFit/>
          </a:bodyPr>
          <a:lstStyle/>
          <a:p>
            <a:pPr algn="ctr">
              <a:lnSpc>
                <a:spcPts val="11747"/>
              </a:lnSpc>
              <a:spcBef>
                <a:spcPct val="0"/>
              </a:spcBef>
            </a:pPr>
            <a:r>
              <a:rPr lang="en-US" sz="8391" dirty="0">
                <a:solidFill>
                  <a:schemeClr val="accent1">
                    <a:lumMod val="50000"/>
                  </a:schemeClr>
                </a:solidFill>
                <a:latin typeface="Anton"/>
                <a:ea typeface="Anton"/>
                <a:cs typeface="Anton"/>
                <a:sym typeface="Anton"/>
              </a:rPr>
              <a:t>Models &amp; Pipelines</a:t>
            </a:r>
          </a:p>
        </p:txBody>
      </p:sp>
      <p:sp>
        <p:nvSpPr>
          <p:cNvPr id="6" name="TextBox 8">
            <a:extLst>
              <a:ext uri="{FF2B5EF4-FFF2-40B4-BE49-F238E27FC236}">
                <a16:creationId xmlns:a16="http://schemas.microsoft.com/office/drawing/2014/main" id="{E1902A25-CFDE-531A-DBB2-E3A671699F43}"/>
              </a:ext>
            </a:extLst>
          </p:cNvPr>
          <p:cNvSpPr txBox="1"/>
          <p:nvPr/>
        </p:nvSpPr>
        <p:spPr>
          <a:xfrm>
            <a:off x="1257297" y="5394030"/>
            <a:ext cx="15773401" cy="3470694"/>
          </a:xfrm>
          <a:prstGeom prst="rect">
            <a:avLst/>
          </a:prstGeom>
        </p:spPr>
        <p:txBody>
          <a:bodyPr wrap="square" lIns="0" tIns="0" rIns="0" bIns="0" rtlCol="0" anchor="t">
            <a:spAutoFit/>
          </a:bodyPr>
          <a:lstStyle/>
          <a:p>
            <a:pPr>
              <a:lnSpc>
                <a:spcPts val="3919"/>
              </a:lnSpc>
              <a:spcBef>
                <a:spcPct val="0"/>
              </a:spcBef>
            </a:pPr>
            <a:r>
              <a:rPr lang="en-US" sz="280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We evaluated four models across three noise levels (Clean, Medium, Heavy), using an 80/20 train-test split:</a:t>
            </a:r>
          </a:p>
          <a:p>
            <a:pPr marL="457200" indent="-457200">
              <a:lnSpc>
                <a:spcPts val="3919"/>
              </a:lnSpc>
              <a:spcBef>
                <a:spcPct val="0"/>
              </a:spcBef>
              <a:buFont typeface="Arial" panose="020B0604020202020204" pitchFamily="34" charset="0"/>
              <a:buChar char="•"/>
            </a:pPr>
            <a:r>
              <a:rPr lang="en-US" sz="280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Naïve Bayes: TF-IDF features</a:t>
            </a:r>
          </a:p>
          <a:p>
            <a:pPr marL="457200" indent="-457200">
              <a:lnSpc>
                <a:spcPts val="3919"/>
              </a:lnSpc>
              <a:spcBef>
                <a:spcPct val="0"/>
              </a:spcBef>
              <a:buFont typeface="Arial" panose="020B0604020202020204" pitchFamily="34" charset="0"/>
              <a:buChar char="•"/>
            </a:pPr>
            <a:r>
              <a:rPr lang="en-US" sz="280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BERT (base): Fine-tuned with </a:t>
            </a:r>
            <a:r>
              <a:rPr lang="en-US" sz="2800" dirty="0" err="1">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AdamP</a:t>
            </a:r>
            <a:r>
              <a:rPr lang="en-US" sz="280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 freezing layers 0-3</a:t>
            </a:r>
          </a:p>
          <a:p>
            <a:pPr marL="457200" indent="-457200">
              <a:lnSpc>
                <a:spcPts val="3919"/>
              </a:lnSpc>
              <a:spcBef>
                <a:spcPct val="0"/>
              </a:spcBef>
              <a:buFont typeface="Arial" panose="020B0604020202020204" pitchFamily="34" charset="0"/>
              <a:buChar char="•"/>
            </a:pPr>
            <a:r>
              <a:rPr lang="en-US" sz="2800" dirty="0" err="1">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ClinicalBERT</a:t>
            </a:r>
            <a:r>
              <a:rPr lang="en-US" sz="280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 Fine-tuned with </a:t>
            </a:r>
            <a:r>
              <a:rPr lang="en-US" sz="2800" dirty="0" err="1">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AdamP</a:t>
            </a:r>
            <a:r>
              <a:rPr lang="en-US" sz="280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 freezing first 165 parameters + scheduler</a:t>
            </a:r>
          </a:p>
          <a:p>
            <a:pPr marL="457200" indent="-457200">
              <a:lnSpc>
                <a:spcPts val="3919"/>
              </a:lnSpc>
              <a:spcBef>
                <a:spcPct val="0"/>
              </a:spcBef>
              <a:buFont typeface="Arial" panose="020B0604020202020204" pitchFamily="34" charset="0"/>
              <a:buChar char="•"/>
            </a:pPr>
            <a:r>
              <a:rPr lang="en-US" sz="280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FLAN-T5: Fine-tuned with </a:t>
            </a:r>
            <a:r>
              <a:rPr lang="en-US" sz="2800" dirty="0" err="1">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Adafactor</a:t>
            </a:r>
            <a:r>
              <a:rPr lang="en-US" sz="280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 using tokenized text-to-label format</a:t>
            </a:r>
          </a:p>
          <a:p>
            <a:pPr algn="ctr">
              <a:lnSpc>
                <a:spcPts val="3919"/>
              </a:lnSpc>
              <a:spcBef>
                <a:spcPct val="0"/>
              </a:spcBef>
            </a:pPr>
            <a:br>
              <a:rPr lang="en-US" sz="28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br>
            <a:r>
              <a:rPr lang="en-US" sz="28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Each model was trained separately per noise level, with adjusted epoch counts.</a:t>
            </a:r>
            <a:endParaRPr lang="en-US" sz="28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endParaRPr>
          </a:p>
        </p:txBody>
      </p:sp>
      <p:pic>
        <p:nvPicPr>
          <p:cNvPr id="3" name="תמונה 2">
            <a:extLst>
              <a:ext uri="{FF2B5EF4-FFF2-40B4-BE49-F238E27FC236}">
                <a16:creationId xmlns:a16="http://schemas.microsoft.com/office/drawing/2014/main" id="{006937E2-1DAE-9B96-CD32-0D2777DB65E3}"/>
              </a:ext>
            </a:extLst>
          </p:cNvPr>
          <p:cNvPicPr>
            <a:picLocks noChangeAspect="1"/>
          </p:cNvPicPr>
          <p:nvPr/>
        </p:nvPicPr>
        <p:blipFill>
          <a:blip r:embed="rId2"/>
          <a:srcRect r="-1" b="-1"/>
          <a:stretch/>
        </p:blipFill>
        <p:spPr>
          <a:xfrm>
            <a:off x="7521520" y="1790700"/>
            <a:ext cx="3244953" cy="3244954"/>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Tree>
    <p:extLst>
      <p:ext uri="{BB962C8B-B14F-4D97-AF65-F5344CB8AC3E}">
        <p14:creationId xmlns:p14="http://schemas.microsoft.com/office/powerpoint/2010/main" val="1318987511"/>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alpha val="75000"/>
          </a:schemeClr>
        </a:solidFill>
        <a:effectLst/>
      </p:bgPr>
    </p:bg>
    <p:spTree>
      <p:nvGrpSpPr>
        <p:cNvPr id="1" name="">
          <a:extLst>
            <a:ext uri="{FF2B5EF4-FFF2-40B4-BE49-F238E27FC236}">
              <a16:creationId xmlns:a16="http://schemas.microsoft.com/office/drawing/2014/main" id="{89C735E2-0C33-1C5A-A2BD-89ACB73C62FD}"/>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BC4E8561-9E9E-DA0A-C781-D0CCE6AC0EE6}"/>
              </a:ext>
            </a:extLst>
          </p:cNvPr>
          <p:cNvSpPr txBox="1"/>
          <p:nvPr/>
        </p:nvSpPr>
        <p:spPr>
          <a:xfrm>
            <a:off x="1828800" y="419100"/>
            <a:ext cx="14630399" cy="1407629"/>
          </a:xfrm>
          <a:prstGeom prst="rect">
            <a:avLst/>
          </a:prstGeom>
        </p:spPr>
        <p:txBody>
          <a:bodyPr wrap="square" lIns="0" tIns="0" rIns="0" bIns="0" rtlCol="0" anchor="t">
            <a:spAutoFit/>
          </a:bodyPr>
          <a:lstStyle/>
          <a:p>
            <a:pPr algn="ctr">
              <a:lnSpc>
                <a:spcPts val="11747"/>
              </a:lnSpc>
              <a:spcBef>
                <a:spcPct val="0"/>
              </a:spcBef>
            </a:pPr>
            <a:r>
              <a:rPr lang="en-US" sz="8391" dirty="0">
                <a:solidFill>
                  <a:schemeClr val="accent1">
                    <a:lumMod val="50000"/>
                  </a:schemeClr>
                </a:solidFill>
                <a:latin typeface="Anton"/>
                <a:ea typeface="Anton"/>
                <a:cs typeface="Anton"/>
                <a:sym typeface="Anton"/>
              </a:rPr>
              <a:t>Metric</a:t>
            </a:r>
          </a:p>
        </p:txBody>
      </p:sp>
      <p:sp>
        <p:nvSpPr>
          <p:cNvPr id="6" name="TextBox 8">
            <a:extLst>
              <a:ext uri="{FF2B5EF4-FFF2-40B4-BE49-F238E27FC236}">
                <a16:creationId xmlns:a16="http://schemas.microsoft.com/office/drawing/2014/main" id="{66F5F9BE-4C53-0151-6269-D84245891DF2}"/>
              </a:ext>
            </a:extLst>
          </p:cNvPr>
          <p:cNvSpPr txBox="1"/>
          <p:nvPr/>
        </p:nvSpPr>
        <p:spPr>
          <a:xfrm>
            <a:off x="3733798" y="2171700"/>
            <a:ext cx="11125201" cy="1470146"/>
          </a:xfrm>
          <a:prstGeom prst="rect">
            <a:avLst/>
          </a:prstGeom>
        </p:spPr>
        <p:txBody>
          <a:bodyPr wrap="square" lIns="0" tIns="0" rIns="0" bIns="0" rtlCol="0" anchor="t">
            <a:spAutoFit/>
          </a:bodyPr>
          <a:lstStyle/>
          <a:p>
            <a:pPr algn="ctr">
              <a:lnSpc>
                <a:spcPts val="3919"/>
              </a:lnSpc>
              <a:spcBef>
                <a:spcPct val="0"/>
              </a:spcBef>
            </a:pPr>
            <a:r>
              <a:rPr lang="en-US" sz="280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We used Accuracy as the primary evaluation metric across all models and noise levels. This allowed us to assess how each model handles increasing noise while maintaining correct disease classification.</a:t>
            </a:r>
            <a:endParaRPr lang="en-US" sz="28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endParaRPr>
          </a:p>
        </p:txBody>
      </p:sp>
      <p:pic>
        <p:nvPicPr>
          <p:cNvPr id="1028" name="Picture 4">
            <a:extLst>
              <a:ext uri="{FF2B5EF4-FFF2-40B4-BE49-F238E27FC236}">
                <a16:creationId xmlns:a16="http://schemas.microsoft.com/office/drawing/2014/main" id="{8F0BDD89-629C-F781-19AE-0A7E8AC94B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034" y="3986817"/>
            <a:ext cx="5258728" cy="5258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6762604"/>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alpha val="75000"/>
          </a:schemeClr>
        </a:solidFill>
        <a:effectLst/>
      </p:bgPr>
    </p:bg>
    <p:spTree>
      <p:nvGrpSpPr>
        <p:cNvPr id="1" name="">
          <a:extLst>
            <a:ext uri="{FF2B5EF4-FFF2-40B4-BE49-F238E27FC236}">
              <a16:creationId xmlns:a16="http://schemas.microsoft.com/office/drawing/2014/main" id="{65AFA34C-40AF-CD63-8184-83FC2C16FF3C}"/>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1BA07817-98E3-90A7-430B-3ACFC17F7B5F}"/>
              </a:ext>
            </a:extLst>
          </p:cNvPr>
          <p:cNvSpPr txBox="1"/>
          <p:nvPr/>
        </p:nvSpPr>
        <p:spPr>
          <a:xfrm>
            <a:off x="1828791" y="536372"/>
            <a:ext cx="14630399" cy="1407629"/>
          </a:xfrm>
          <a:prstGeom prst="rect">
            <a:avLst/>
          </a:prstGeom>
        </p:spPr>
        <p:txBody>
          <a:bodyPr wrap="square" lIns="0" tIns="0" rIns="0" bIns="0" rtlCol="0" anchor="t">
            <a:spAutoFit/>
          </a:bodyPr>
          <a:lstStyle/>
          <a:p>
            <a:pPr algn="ctr">
              <a:lnSpc>
                <a:spcPts val="11747"/>
              </a:lnSpc>
              <a:spcBef>
                <a:spcPct val="0"/>
              </a:spcBef>
            </a:pPr>
            <a:r>
              <a:rPr lang="en-US" sz="8391" dirty="0">
                <a:solidFill>
                  <a:schemeClr val="accent1">
                    <a:lumMod val="50000"/>
                  </a:schemeClr>
                </a:solidFill>
                <a:latin typeface="Anton"/>
                <a:ea typeface="Anton"/>
                <a:cs typeface="Anton"/>
                <a:sym typeface="Anton"/>
              </a:rPr>
              <a:t>Code Organization</a:t>
            </a:r>
          </a:p>
        </p:txBody>
      </p:sp>
      <p:sp>
        <p:nvSpPr>
          <p:cNvPr id="6" name="TextBox 8">
            <a:extLst>
              <a:ext uri="{FF2B5EF4-FFF2-40B4-BE49-F238E27FC236}">
                <a16:creationId xmlns:a16="http://schemas.microsoft.com/office/drawing/2014/main" id="{AC276ED3-AA3A-3B98-6FC0-CBE7EE729B14}"/>
              </a:ext>
            </a:extLst>
          </p:cNvPr>
          <p:cNvSpPr txBox="1"/>
          <p:nvPr/>
        </p:nvSpPr>
        <p:spPr>
          <a:xfrm>
            <a:off x="1257289" y="2280114"/>
            <a:ext cx="15773401" cy="469872"/>
          </a:xfrm>
          <a:prstGeom prst="rect">
            <a:avLst/>
          </a:prstGeom>
        </p:spPr>
        <p:txBody>
          <a:bodyPr wrap="square" lIns="0" tIns="0" rIns="0" bIns="0" rtlCol="0" anchor="t">
            <a:spAutoFit/>
          </a:bodyPr>
          <a:lstStyle/>
          <a:p>
            <a:pPr algn="ctr">
              <a:lnSpc>
                <a:spcPts val="3919"/>
              </a:lnSpc>
              <a:spcBef>
                <a:spcPct val="0"/>
              </a:spcBef>
            </a:pPr>
            <a:r>
              <a:rPr lang="en-US" sz="2800" b="1" dirty="0">
                <a:solidFill>
                  <a:schemeClr val="tx2"/>
                </a:solidFill>
                <a:latin typeface="Calibri" panose="020F0502020204030204" pitchFamily="34" charset="0"/>
                <a:ea typeface="Calibri" panose="020F0502020204030204" pitchFamily="34" charset="0"/>
                <a:cs typeface="Calibri" panose="020F0502020204030204" pitchFamily="34" charset="0"/>
              </a:rPr>
              <a:t>GitHub Repository: </a:t>
            </a:r>
            <a:r>
              <a:rPr lang="en-US" sz="2800" b="1" dirty="0" err="1">
                <a:solidFill>
                  <a:schemeClr val="tx2"/>
                </a:solidFill>
                <a:latin typeface="Calibri" panose="020F0502020204030204" pitchFamily="34" charset="0"/>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PatientSignal</a:t>
            </a:r>
            <a:r>
              <a:rPr lang="en-US" sz="2800" b="1" dirty="0">
                <a:solidFill>
                  <a:schemeClr val="tx2"/>
                </a:solidFill>
                <a:latin typeface="Calibri" panose="020F0502020204030204" pitchFamily="34" charset="0"/>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 GitHub</a:t>
            </a:r>
            <a:endParaRPr lang="en-US" sz="2800" b="1" dirty="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8">
            <a:extLst>
              <a:ext uri="{FF2B5EF4-FFF2-40B4-BE49-F238E27FC236}">
                <a16:creationId xmlns:a16="http://schemas.microsoft.com/office/drawing/2014/main" id="{E4DEDFD0-BC33-5EC2-1792-A6200C91700B}"/>
              </a:ext>
            </a:extLst>
          </p:cNvPr>
          <p:cNvSpPr txBox="1"/>
          <p:nvPr/>
        </p:nvSpPr>
        <p:spPr>
          <a:xfrm>
            <a:off x="1524000" y="3238500"/>
            <a:ext cx="16535400" cy="5471241"/>
          </a:xfrm>
          <a:prstGeom prst="rect">
            <a:avLst/>
          </a:prstGeom>
        </p:spPr>
        <p:txBody>
          <a:bodyPr wrap="square" lIns="0" tIns="0" rIns="0" bIns="0" rtlCol="0" anchor="t">
            <a:spAutoFit/>
          </a:bodyPr>
          <a:lstStyle/>
          <a:p>
            <a:pPr>
              <a:lnSpc>
                <a:spcPts val="3919"/>
              </a:lnSpc>
              <a:spcBef>
                <a:spcPct val="0"/>
              </a:spcBef>
            </a:pPr>
            <a:r>
              <a:rPr lang="en-US" sz="2800" b="1" dirty="0">
                <a:solidFill>
                  <a:schemeClr val="tx2"/>
                </a:solidFill>
                <a:latin typeface="Calibri" panose="020F0502020204030204" pitchFamily="34" charset="0"/>
                <a:ea typeface="Calibri" panose="020F0502020204030204" pitchFamily="34" charset="0"/>
                <a:cs typeface="Calibri" panose="020F0502020204030204" pitchFamily="34" charset="0"/>
                <a:sym typeface="Canva Sans"/>
              </a:rPr>
              <a:t>Data Files:</a:t>
            </a:r>
          </a:p>
          <a:p>
            <a:pPr marL="457200" indent="-457200">
              <a:lnSpc>
                <a:spcPts val="3919"/>
              </a:lnSpc>
              <a:spcBef>
                <a:spcPct val="0"/>
              </a:spcBef>
              <a:buFont typeface="Arial" panose="020B0604020202020204" pitchFamily="34" charset="0"/>
              <a:buChar char="•"/>
            </a:pPr>
            <a:r>
              <a: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sym typeface="Canva Sans"/>
              </a:rPr>
              <a:t>Train_data.csv</a:t>
            </a:r>
          </a:p>
          <a:p>
            <a:pPr marL="457200" indent="-457200">
              <a:lnSpc>
                <a:spcPts val="3919"/>
              </a:lnSpc>
              <a:spcBef>
                <a:spcPct val="0"/>
              </a:spcBef>
              <a:buFont typeface="Arial" panose="020B0604020202020204" pitchFamily="34" charset="0"/>
              <a:buChar char="•"/>
            </a:pPr>
            <a:r>
              <a: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sym typeface="Canva Sans"/>
              </a:rPr>
              <a:t>Train_data_with_noise2.csv</a:t>
            </a:r>
          </a:p>
          <a:p>
            <a:pPr>
              <a:lnSpc>
                <a:spcPts val="3919"/>
              </a:lnSpc>
              <a:spcBef>
                <a:spcPct val="0"/>
              </a:spcBef>
            </a:pPr>
            <a:endPara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sym typeface="Canva Sans"/>
            </a:endParaRPr>
          </a:p>
          <a:p>
            <a:pPr>
              <a:lnSpc>
                <a:spcPts val="3919"/>
              </a:lnSpc>
              <a:spcBef>
                <a:spcPct val="0"/>
              </a:spcBef>
            </a:pPr>
            <a:r>
              <a:rPr lang="en-US" sz="2800" b="1" dirty="0">
                <a:solidFill>
                  <a:schemeClr val="tx2"/>
                </a:solidFill>
                <a:latin typeface="Calibri" panose="020F0502020204030204" pitchFamily="34" charset="0"/>
                <a:ea typeface="Calibri" panose="020F0502020204030204" pitchFamily="34" charset="0"/>
                <a:cs typeface="Calibri" panose="020F0502020204030204" pitchFamily="34" charset="0"/>
                <a:sym typeface="Canva Sans"/>
              </a:rPr>
              <a:t>Main Code Files &amp; Functions:</a:t>
            </a:r>
          </a:p>
          <a:p>
            <a:pPr marL="457200" indent="-457200">
              <a:lnSpc>
                <a:spcPts val="3919"/>
              </a:lnSpc>
              <a:spcBef>
                <a:spcPct val="0"/>
              </a:spcBef>
              <a:buFont typeface="Arial" panose="020B0604020202020204" pitchFamily="34" charset="0"/>
              <a:buChar char="•"/>
            </a:pPr>
            <a:r>
              <a: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sym typeface="Canva Sans"/>
              </a:rPr>
              <a:t>Data Generation (Noise Creation): </a:t>
            </a:r>
            <a:r>
              <a:rPr lang="en-US" sz="2800" dirty="0" err="1">
                <a:solidFill>
                  <a:schemeClr val="tx2"/>
                </a:solidFill>
                <a:latin typeface="Calibri" panose="020F0502020204030204" pitchFamily="34" charset="0"/>
                <a:ea typeface="Calibri" panose="020F0502020204030204" pitchFamily="34" charset="0"/>
                <a:cs typeface="Calibri" panose="020F0502020204030204" pitchFamily="34" charset="0"/>
                <a:sym typeface="Canva Sans"/>
              </a:rPr>
              <a:t>Noise_Generation.ipynb</a:t>
            </a:r>
            <a:r>
              <a: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sym typeface="Canva Sans"/>
              </a:rPr>
              <a:t> </a:t>
            </a:r>
          </a:p>
          <a:p>
            <a:pPr marL="457200" indent="-457200">
              <a:lnSpc>
                <a:spcPts val="3919"/>
              </a:lnSpc>
              <a:spcBef>
                <a:spcPct val="0"/>
              </a:spcBef>
              <a:buFont typeface="Arial" panose="020B0604020202020204" pitchFamily="34" charset="0"/>
              <a:buChar char="•"/>
            </a:pPr>
            <a:r>
              <a: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sym typeface="Canva Sans"/>
              </a:rPr>
              <a:t>Function: </a:t>
            </a:r>
            <a:r>
              <a:rPr lang="en-US" sz="2800" dirty="0" err="1">
                <a:solidFill>
                  <a:schemeClr val="tx2"/>
                </a:solidFill>
                <a:latin typeface="Calibri" panose="020F0502020204030204" pitchFamily="34" charset="0"/>
                <a:ea typeface="Calibri" panose="020F0502020204030204" pitchFamily="34" charset="0"/>
                <a:cs typeface="Calibri" panose="020F0502020204030204" pitchFamily="34" charset="0"/>
                <a:sym typeface="Canva Sans"/>
              </a:rPr>
              <a:t>generate_patient_noise</a:t>
            </a:r>
            <a:r>
              <a: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sym typeface="Canva Sans"/>
              </a:rPr>
              <a:t>(text, level)</a:t>
            </a:r>
          </a:p>
          <a:p>
            <a:pPr>
              <a:lnSpc>
                <a:spcPts val="3919"/>
              </a:lnSpc>
              <a:spcBef>
                <a:spcPct val="0"/>
              </a:spcBef>
            </a:pPr>
            <a:endPara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sym typeface="Canva Sans"/>
            </a:endParaRPr>
          </a:p>
          <a:p>
            <a:pPr>
              <a:lnSpc>
                <a:spcPts val="3919"/>
              </a:lnSpc>
              <a:spcBef>
                <a:spcPct val="0"/>
              </a:spcBef>
            </a:pPr>
            <a:r>
              <a:rPr lang="en-US" sz="2800" b="1" dirty="0">
                <a:solidFill>
                  <a:schemeClr val="tx2"/>
                </a:solidFill>
                <a:latin typeface="Calibri" panose="020F0502020204030204" pitchFamily="34" charset="0"/>
                <a:ea typeface="Calibri" panose="020F0502020204030204" pitchFamily="34" charset="0"/>
                <a:cs typeface="Calibri" panose="020F0502020204030204" pitchFamily="34" charset="0"/>
                <a:sym typeface="Canva Sans"/>
              </a:rPr>
              <a:t>Data Preparation &amp; Model Training: </a:t>
            </a:r>
          </a:p>
          <a:p>
            <a:pPr marL="457200" indent="-457200">
              <a:lnSpc>
                <a:spcPts val="3919"/>
              </a:lnSpc>
              <a:spcBef>
                <a:spcPct val="0"/>
              </a:spcBef>
              <a:buFont typeface="Arial" panose="020B0604020202020204" pitchFamily="34" charset="0"/>
              <a:buChar char="•"/>
            </a:pPr>
            <a:r>
              <a:rPr lang="en-US" sz="2800" dirty="0" err="1">
                <a:solidFill>
                  <a:schemeClr val="tx2"/>
                </a:solidFill>
                <a:latin typeface="Calibri" panose="020F0502020204030204" pitchFamily="34" charset="0"/>
                <a:ea typeface="Calibri" panose="020F0502020204030204" pitchFamily="34" charset="0"/>
                <a:cs typeface="Calibri" panose="020F0502020204030204" pitchFamily="34" charset="0"/>
                <a:sym typeface="Canva Sans"/>
              </a:rPr>
              <a:t>PatientSignal.ipynb</a:t>
            </a:r>
            <a:r>
              <a: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sym typeface="Canva Sans"/>
              </a:rPr>
              <a:t> (Naïve Bayes, BERT, </a:t>
            </a:r>
            <a:r>
              <a:rPr lang="en-US" sz="2800" dirty="0" err="1">
                <a:solidFill>
                  <a:schemeClr val="tx2"/>
                </a:solidFill>
                <a:latin typeface="Calibri" panose="020F0502020204030204" pitchFamily="34" charset="0"/>
                <a:ea typeface="Calibri" panose="020F0502020204030204" pitchFamily="34" charset="0"/>
                <a:cs typeface="Calibri" panose="020F0502020204030204" pitchFamily="34" charset="0"/>
                <a:sym typeface="Canva Sans"/>
              </a:rPr>
              <a:t>ClinicalBERT</a:t>
            </a:r>
            <a:r>
              <a: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sym typeface="Canva Sans"/>
              </a:rPr>
              <a:t>, FLAN-T5) </a:t>
            </a:r>
          </a:p>
          <a:p>
            <a:pPr marL="457200" indent="-457200">
              <a:lnSpc>
                <a:spcPts val="3919"/>
              </a:lnSpc>
              <a:spcBef>
                <a:spcPct val="0"/>
              </a:spcBef>
              <a:buFont typeface="Arial" panose="020B0604020202020204" pitchFamily="34" charset="0"/>
              <a:buChar char="•"/>
            </a:pPr>
            <a:r>
              <a: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sym typeface="Canva Sans"/>
              </a:rPr>
              <a:t>Pipeline Overview: Original Data → Noise Generation → Train/Test Split → Training → Results Visualization</a:t>
            </a:r>
          </a:p>
        </p:txBody>
      </p:sp>
    </p:spTree>
    <p:extLst>
      <p:ext uri="{BB962C8B-B14F-4D97-AF65-F5344CB8AC3E}">
        <p14:creationId xmlns:p14="http://schemas.microsoft.com/office/powerpoint/2010/main" val="34283462"/>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alpha val="75000"/>
          </a:schemeClr>
        </a:solidFill>
        <a:effectLst/>
      </p:bgPr>
    </p:bg>
    <p:spTree>
      <p:nvGrpSpPr>
        <p:cNvPr id="1" name="">
          <a:extLst>
            <a:ext uri="{FF2B5EF4-FFF2-40B4-BE49-F238E27FC236}">
              <a16:creationId xmlns:a16="http://schemas.microsoft.com/office/drawing/2014/main" id="{818C0BEC-1D95-4336-3D89-28D1461249DC}"/>
            </a:ext>
          </a:extLst>
        </p:cNvPr>
        <p:cNvGrpSpPr/>
        <p:nvPr/>
      </p:nvGrpSpPr>
      <p:grpSpPr>
        <a:xfrm>
          <a:off x="0" y="0"/>
          <a:ext cx="0" cy="0"/>
          <a:chOff x="0" y="0"/>
          <a:chExt cx="0" cy="0"/>
        </a:xfrm>
      </p:grpSpPr>
      <p:sp>
        <p:nvSpPr>
          <p:cNvPr id="7" name="TextBox 8">
            <a:extLst>
              <a:ext uri="{FF2B5EF4-FFF2-40B4-BE49-F238E27FC236}">
                <a16:creationId xmlns:a16="http://schemas.microsoft.com/office/drawing/2014/main" id="{FBB4051F-B740-E16A-C5DD-E7E0F9058ADC}"/>
              </a:ext>
            </a:extLst>
          </p:cNvPr>
          <p:cNvSpPr txBox="1"/>
          <p:nvPr/>
        </p:nvSpPr>
        <p:spPr>
          <a:xfrm>
            <a:off x="1828800" y="2705100"/>
            <a:ext cx="5562600" cy="1983876"/>
          </a:xfrm>
          <a:prstGeom prst="rect">
            <a:avLst/>
          </a:prstGeom>
        </p:spPr>
        <p:txBody>
          <a:bodyPr wrap="square" lIns="0" tIns="0" rIns="0" bIns="0" rtlCol="0" anchor="t">
            <a:spAutoFit/>
          </a:bodyPr>
          <a:lstStyle/>
          <a:p>
            <a:pPr algn="ctr">
              <a:lnSpc>
                <a:spcPts val="3919"/>
              </a:lnSpc>
              <a:spcBef>
                <a:spcPct val="0"/>
              </a:spcBef>
            </a:pPr>
            <a:r>
              <a:rPr lang="en-US" sz="3200" b="1" dirty="0">
                <a:solidFill>
                  <a:schemeClr val="tx2"/>
                </a:solidFill>
              </a:rPr>
              <a:t>Multinomial Naïve Bayes Model:</a:t>
            </a:r>
          </a:p>
          <a:p>
            <a:pPr algn="ctr">
              <a:lnSpc>
                <a:spcPts val="3919"/>
              </a:lnSpc>
              <a:spcBef>
                <a:spcPct val="0"/>
              </a:spcBef>
            </a:pPr>
            <a:r>
              <a:rPr lang="en-US" sz="3200" dirty="0">
                <a:solidFill>
                  <a:schemeClr val="tx2"/>
                </a:solidFill>
              </a:rPr>
              <a:t>Clean data accuracy: 93.8%</a:t>
            </a:r>
          </a:p>
          <a:p>
            <a:pPr algn="ctr">
              <a:lnSpc>
                <a:spcPts val="3919"/>
              </a:lnSpc>
              <a:spcBef>
                <a:spcPct val="0"/>
              </a:spcBef>
            </a:pPr>
            <a:r>
              <a:rPr lang="en-US" sz="3200" dirty="0">
                <a:solidFill>
                  <a:schemeClr val="tx2"/>
                </a:solidFill>
              </a:rPr>
              <a:t>Medium noise accuracy: 79.2%</a:t>
            </a:r>
          </a:p>
          <a:p>
            <a:pPr algn="ctr">
              <a:lnSpc>
                <a:spcPts val="3919"/>
              </a:lnSpc>
              <a:spcBef>
                <a:spcPct val="0"/>
              </a:spcBef>
            </a:pPr>
            <a:r>
              <a:rPr lang="en-US" sz="3200" dirty="0">
                <a:solidFill>
                  <a:schemeClr val="tx2"/>
                </a:solidFill>
              </a:rPr>
              <a:t>Heavy noise accuracy: 77.5%</a:t>
            </a:r>
          </a:p>
        </p:txBody>
      </p:sp>
      <p:sp>
        <p:nvSpPr>
          <p:cNvPr id="2" name="TextBox 5">
            <a:extLst>
              <a:ext uri="{FF2B5EF4-FFF2-40B4-BE49-F238E27FC236}">
                <a16:creationId xmlns:a16="http://schemas.microsoft.com/office/drawing/2014/main" id="{DDFF4494-8E6A-94DF-EC60-C14174868AE0}"/>
              </a:ext>
            </a:extLst>
          </p:cNvPr>
          <p:cNvSpPr txBox="1"/>
          <p:nvPr/>
        </p:nvSpPr>
        <p:spPr>
          <a:xfrm>
            <a:off x="1828800" y="403905"/>
            <a:ext cx="14630399" cy="1407629"/>
          </a:xfrm>
          <a:prstGeom prst="rect">
            <a:avLst/>
          </a:prstGeom>
        </p:spPr>
        <p:txBody>
          <a:bodyPr wrap="square" lIns="0" tIns="0" rIns="0" bIns="0" rtlCol="0" anchor="t">
            <a:spAutoFit/>
          </a:bodyPr>
          <a:lstStyle/>
          <a:p>
            <a:pPr algn="ctr">
              <a:lnSpc>
                <a:spcPts val="11747"/>
              </a:lnSpc>
              <a:spcBef>
                <a:spcPct val="0"/>
              </a:spcBef>
            </a:pPr>
            <a:r>
              <a:rPr lang="en-US" sz="8391" dirty="0">
                <a:solidFill>
                  <a:schemeClr val="accent1">
                    <a:lumMod val="50000"/>
                  </a:schemeClr>
                </a:solidFill>
                <a:latin typeface="Anton"/>
                <a:ea typeface="Anton"/>
                <a:cs typeface="Anton"/>
                <a:sym typeface="Anton"/>
              </a:rPr>
              <a:t>Model's Results</a:t>
            </a:r>
          </a:p>
        </p:txBody>
      </p:sp>
      <p:sp>
        <p:nvSpPr>
          <p:cNvPr id="9" name="TextBox 8">
            <a:extLst>
              <a:ext uri="{FF2B5EF4-FFF2-40B4-BE49-F238E27FC236}">
                <a16:creationId xmlns:a16="http://schemas.microsoft.com/office/drawing/2014/main" id="{FA4E5344-647A-179E-7B2D-BF8912A15C5A}"/>
              </a:ext>
            </a:extLst>
          </p:cNvPr>
          <p:cNvSpPr txBox="1"/>
          <p:nvPr/>
        </p:nvSpPr>
        <p:spPr>
          <a:xfrm>
            <a:off x="11048999" y="2705100"/>
            <a:ext cx="5562600" cy="1983876"/>
          </a:xfrm>
          <a:prstGeom prst="rect">
            <a:avLst/>
          </a:prstGeom>
        </p:spPr>
        <p:txBody>
          <a:bodyPr wrap="square" lIns="0" tIns="0" rIns="0" bIns="0" rtlCol="0" anchor="t">
            <a:spAutoFit/>
          </a:bodyPr>
          <a:lstStyle/>
          <a:p>
            <a:pPr algn="ctr">
              <a:lnSpc>
                <a:spcPts val="3919"/>
              </a:lnSpc>
              <a:spcBef>
                <a:spcPct val="0"/>
              </a:spcBef>
            </a:pPr>
            <a:r>
              <a:rPr lang="en-US" sz="3200" b="1" dirty="0">
                <a:solidFill>
                  <a:schemeClr val="tx2"/>
                </a:solidFill>
              </a:rPr>
              <a:t>BERT Model:</a:t>
            </a:r>
          </a:p>
          <a:p>
            <a:pPr algn="ctr">
              <a:lnSpc>
                <a:spcPts val="3919"/>
              </a:lnSpc>
              <a:spcBef>
                <a:spcPct val="0"/>
              </a:spcBef>
            </a:pPr>
            <a:r>
              <a:rPr lang="en-US" sz="3200" dirty="0">
                <a:solidFill>
                  <a:schemeClr val="tx2"/>
                </a:solidFill>
              </a:rPr>
              <a:t>Clean data accuracy: 98.3%</a:t>
            </a:r>
          </a:p>
          <a:p>
            <a:pPr algn="ctr">
              <a:lnSpc>
                <a:spcPts val="3919"/>
              </a:lnSpc>
              <a:spcBef>
                <a:spcPct val="0"/>
              </a:spcBef>
            </a:pPr>
            <a:r>
              <a:rPr lang="en-US" sz="3200" dirty="0">
                <a:solidFill>
                  <a:schemeClr val="tx2"/>
                </a:solidFill>
              </a:rPr>
              <a:t>Medium noise accuracy: 86.7%</a:t>
            </a:r>
          </a:p>
          <a:p>
            <a:pPr algn="ctr">
              <a:lnSpc>
                <a:spcPts val="3919"/>
              </a:lnSpc>
              <a:spcBef>
                <a:spcPct val="0"/>
              </a:spcBef>
            </a:pPr>
            <a:r>
              <a:rPr lang="en-US" sz="3200" dirty="0">
                <a:solidFill>
                  <a:schemeClr val="tx2"/>
                </a:solidFill>
              </a:rPr>
              <a:t>Heavy noise accuracy: 79.2%</a:t>
            </a:r>
          </a:p>
        </p:txBody>
      </p:sp>
      <p:pic>
        <p:nvPicPr>
          <p:cNvPr id="10" name="תמונה 9">
            <a:extLst>
              <a:ext uri="{FF2B5EF4-FFF2-40B4-BE49-F238E27FC236}">
                <a16:creationId xmlns:a16="http://schemas.microsoft.com/office/drawing/2014/main" id="{7CEA1683-578D-C263-DDAD-F387C4DA5309}"/>
              </a:ext>
            </a:extLst>
          </p:cNvPr>
          <p:cNvPicPr>
            <a:picLocks noChangeAspect="1"/>
          </p:cNvPicPr>
          <p:nvPr/>
        </p:nvPicPr>
        <p:blipFill>
          <a:blip r:embed="rId2"/>
          <a:stretch>
            <a:fillRect/>
          </a:stretch>
        </p:blipFill>
        <p:spPr>
          <a:xfrm>
            <a:off x="10970572" y="4991100"/>
            <a:ext cx="5719455" cy="4143375"/>
          </a:xfrm>
          <a:prstGeom prst="rect">
            <a:avLst/>
          </a:prstGeom>
        </p:spPr>
      </p:pic>
      <p:pic>
        <p:nvPicPr>
          <p:cNvPr id="4098" name="Picture 2">
            <a:extLst>
              <a:ext uri="{FF2B5EF4-FFF2-40B4-BE49-F238E27FC236}">
                <a16:creationId xmlns:a16="http://schemas.microsoft.com/office/drawing/2014/main" id="{16539D95-B33D-8E54-22E6-268C890031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0372" y="4991100"/>
            <a:ext cx="5719455" cy="4143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1719438"/>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alpha val="75000"/>
          </a:schemeClr>
        </a:solidFill>
        <a:effectLst/>
      </p:bgPr>
    </p:bg>
    <p:spTree>
      <p:nvGrpSpPr>
        <p:cNvPr id="1" name="">
          <a:extLst>
            <a:ext uri="{FF2B5EF4-FFF2-40B4-BE49-F238E27FC236}">
              <a16:creationId xmlns:a16="http://schemas.microsoft.com/office/drawing/2014/main" id="{1E41231C-EFD2-9CEE-1B4E-86C765CE020B}"/>
            </a:ext>
          </a:extLst>
        </p:cNvPr>
        <p:cNvGrpSpPr/>
        <p:nvPr/>
      </p:nvGrpSpPr>
      <p:grpSpPr>
        <a:xfrm>
          <a:off x="0" y="0"/>
          <a:ext cx="0" cy="0"/>
          <a:chOff x="0" y="0"/>
          <a:chExt cx="0" cy="0"/>
        </a:xfrm>
      </p:grpSpPr>
      <p:sp>
        <p:nvSpPr>
          <p:cNvPr id="7" name="TextBox 8">
            <a:extLst>
              <a:ext uri="{FF2B5EF4-FFF2-40B4-BE49-F238E27FC236}">
                <a16:creationId xmlns:a16="http://schemas.microsoft.com/office/drawing/2014/main" id="{420D4B89-8B70-087E-CD14-4127BEF907AF}"/>
              </a:ext>
            </a:extLst>
          </p:cNvPr>
          <p:cNvSpPr txBox="1"/>
          <p:nvPr/>
        </p:nvSpPr>
        <p:spPr>
          <a:xfrm>
            <a:off x="2071688" y="1866900"/>
            <a:ext cx="5562600" cy="1983876"/>
          </a:xfrm>
          <a:prstGeom prst="rect">
            <a:avLst/>
          </a:prstGeom>
        </p:spPr>
        <p:txBody>
          <a:bodyPr wrap="square" lIns="0" tIns="0" rIns="0" bIns="0" rtlCol="0" anchor="t">
            <a:spAutoFit/>
          </a:bodyPr>
          <a:lstStyle/>
          <a:p>
            <a:pPr algn="ctr">
              <a:lnSpc>
                <a:spcPts val="3919"/>
              </a:lnSpc>
              <a:spcBef>
                <a:spcPct val="0"/>
              </a:spcBef>
            </a:pPr>
            <a:r>
              <a:rPr lang="en-US" sz="3200" b="1" dirty="0">
                <a:solidFill>
                  <a:schemeClr val="tx2"/>
                </a:solidFill>
              </a:rPr>
              <a:t>Clinical BERT Model:</a:t>
            </a:r>
          </a:p>
          <a:p>
            <a:pPr algn="ctr">
              <a:lnSpc>
                <a:spcPts val="3919"/>
              </a:lnSpc>
              <a:spcBef>
                <a:spcPct val="0"/>
              </a:spcBef>
            </a:pPr>
            <a:r>
              <a:rPr lang="en-US" sz="3200" dirty="0">
                <a:solidFill>
                  <a:schemeClr val="tx2"/>
                </a:solidFill>
              </a:rPr>
              <a:t>Clean data accuracy: 97.9%</a:t>
            </a:r>
          </a:p>
          <a:p>
            <a:pPr algn="ctr">
              <a:lnSpc>
                <a:spcPts val="3919"/>
              </a:lnSpc>
              <a:spcBef>
                <a:spcPct val="0"/>
              </a:spcBef>
            </a:pPr>
            <a:r>
              <a:rPr lang="en-US" sz="3200" dirty="0">
                <a:solidFill>
                  <a:schemeClr val="tx2"/>
                </a:solidFill>
              </a:rPr>
              <a:t>Medium noise accuracy: 83.8%</a:t>
            </a:r>
          </a:p>
          <a:p>
            <a:pPr algn="ctr">
              <a:lnSpc>
                <a:spcPts val="3919"/>
              </a:lnSpc>
              <a:spcBef>
                <a:spcPct val="0"/>
              </a:spcBef>
            </a:pPr>
            <a:r>
              <a:rPr lang="en-US" sz="3200" dirty="0">
                <a:solidFill>
                  <a:schemeClr val="tx2"/>
                </a:solidFill>
              </a:rPr>
              <a:t>Heavy noise accuracy: 86.2%</a:t>
            </a:r>
          </a:p>
        </p:txBody>
      </p:sp>
      <p:sp>
        <p:nvSpPr>
          <p:cNvPr id="9" name="TextBox 8">
            <a:extLst>
              <a:ext uri="{FF2B5EF4-FFF2-40B4-BE49-F238E27FC236}">
                <a16:creationId xmlns:a16="http://schemas.microsoft.com/office/drawing/2014/main" id="{B110B953-DE1B-2F6C-4602-451FC8A298D4}"/>
              </a:ext>
            </a:extLst>
          </p:cNvPr>
          <p:cNvSpPr txBox="1"/>
          <p:nvPr/>
        </p:nvSpPr>
        <p:spPr>
          <a:xfrm>
            <a:off x="10715622" y="1866900"/>
            <a:ext cx="5562600" cy="1983876"/>
          </a:xfrm>
          <a:prstGeom prst="rect">
            <a:avLst/>
          </a:prstGeom>
        </p:spPr>
        <p:txBody>
          <a:bodyPr wrap="square" lIns="0" tIns="0" rIns="0" bIns="0" rtlCol="0" anchor="t">
            <a:spAutoFit/>
          </a:bodyPr>
          <a:lstStyle/>
          <a:p>
            <a:pPr algn="ctr">
              <a:lnSpc>
                <a:spcPts val="3919"/>
              </a:lnSpc>
              <a:spcBef>
                <a:spcPct val="0"/>
              </a:spcBef>
            </a:pPr>
            <a:r>
              <a:rPr lang="en-US" sz="3200" b="1" dirty="0">
                <a:solidFill>
                  <a:schemeClr val="tx2"/>
                </a:solidFill>
              </a:rPr>
              <a:t>Flan T-5 Model:</a:t>
            </a:r>
          </a:p>
          <a:p>
            <a:pPr algn="ctr">
              <a:lnSpc>
                <a:spcPts val="3919"/>
              </a:lnSpc>
              <a:spcBef>
                <a:spcPct val="0"/>
              </a:spcBef>
            </a:pPr>
            <a:r>
              <a:rPr lang="en-US" sz="3200" dirty="0">
                <a:solidFill>
                  <a:schemeClr val="tx2"/>
                </a:solidFill>
              </a:rPr>
              <a:t>Clean data accuracy: 97.1%</a:t>
            </a:r>
          </a:p>
          <a:p>
            <a:pPr algn="ctr">
              <a:lnSpc>
                <a:spcPts val="3919"/>
              </a:lnSpc>
              <a:spcBef>
                <a:spcPct val="0"/>
              </a:spcBef>
            </a:pPr>
            <a:r>
              <a:rPr lang="en-US" sz="3200" dirty="0">
                <a:solidFill>
                  <a:schemeClr val="tx2"/>
                </a:solidFill>
              </a:rPr>
              <a:t>Medium noise accuracy: 92.5%</a:t>
            </a:r>
          </a:p>
          <a:p>
            <a:pPr algn="ctr">
              <a:lnSpc>
                <a:spcPts val="3919"/>
              </a:lnSpc>
              <a:spcBef>
                <a:spcPct val="0"/>
              </a:spcBef>
            </a:pPr>
            <a:r>
              <a:rPr lang="en-US" sz="3200" dirty="0">
                <a:solidFill>
                  <a:schemeClr val="tx2"/>
                </a:solidFill>
              </a:rPr>
              <a:t>Heavy noise accuracy: 87.1%</a:t>
            </a:r>
          </a:p>
        </p:txBody>
      </p:sp>
      <p:pic>
        <p:nvPicPr>
          <p:cNvPr id="5122" name="Picture 2">
            <a:extLst>
              <a:ext uri="{FF2B5EF4-FFF2-40B4-BE49-F238E27FC236}">
                <a16:creationId xmlns:a16="http://schemas.microsoft.com/office/drawing/2014/main" id="{7F5E3269-BF70-C850-E251-C3E6484FC0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4152900"/>
            <a:ext cx="5438775" cy="414337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5CDFC218-3B36-F2EA-DED2-6584B15F6A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7537" y="4152900"/>
            <a:ext cx="5438775" cy="4143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8176774"/>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alpha val="75000"/>
          </a:schemeClr>
        </a:solidFill>
        <a:effectLst/>
      </p:bgPr>
    </p:bg>
    <p:spTree>
      <p:nvGrpSpPr>
        <p:cNvPr id="1" name="">
          <a:extLst>
            <a:ext uri="{FF2B5EF4-FFF2-40B4-BE49-F238E27FC236}">
              <a16:creationId xmlns:a16="http://schemas.microsoft.com/office/drawing/2014/main" id="{8CCDEE9E-47AF-9860-CDE4-7604E1443B65}"/>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C4298E57-522C-0C2C-E952-4E4E3BD69EF0}"/>
              </a:ext>
            </a:extLst>
          </p:cNvPr>
          <p:cNvSpPr txBox="1"/>
          <p:nvPr/>
        </p:nvSpPr>
        <p:spPr>
          <a:xfrm>
            <a:off x="1312601" y="712620"/>
            <a:ext cx="14630399" cy="1407629"/>
          </a:xfrm>
          <a:prstGeom prst="rect">
            <a:avLst/>
          </a:prstGeom>
        </p:spPr>
        <p:txBody>
          <a:bodyPr wrap="square" lIns="0" tIns="0" rIns="0" bIns="0" rtlCol="0" anchor="t">
            <a:spAutoFit/>
          </a:bodyPr>
          <a:lstStyle/>
          <a:p>
            <a:pPr algn="ctr">
              <a:lnSpc>
                <a:spcPts val="11747"/>
              </a:lnSpc>
              <a:spcBef>
                <a:spcPct val="0"/>
              </a:spcBef>
            </a:pPr>
            <a:r>
              <a:rPr lang="en-US" sz="8391" dirty="0">
                <a:solidFill>
                  <a:schemeClr val="accent1">
                    <a:lumMod val="50000"/>
                  </a:schemeClr>
                </a:solidFill>
                <a:latin typeface="Anton"/>
                <a:ea typeface="Anton"/>
                <a:cs typeface="Anton"/>
                <a:sym typeface="Anton"/>
              </a:rPr>
              <a:t>Main Results and conclusion</a:t>
            </a:r>
          </a:p>
        </p:txBody>
      </p:sp>
      <p:sp>
        <p:nvSpPr>
          <p:cNvPr id="3" name="TextBox 8">
            <a:extLst>
              <a:ext uri="{FF2B5EF4-FFF2-40B4-BE49-F238E27FC236}">
                <a16:creationId xmlns:a16="http://schemas.microsoft.com/office/drawing/2014/main" id="{164F351F-9761-1903-2306-F6C268EE1DC2}"/>
              </a:ext>
            </a:extLst>
          </p:cNvPr>
          <p:cNvSpPr txBox="1"/>
          <p:nvPr/>
        </p:nvSpPr>
        <p:spPr>
          <a:xfrm>
            <a:off x="304800" y="2318564"/>
            <a:ext cx="15773401" cy="469872"/>
          </a:xfrm>
          <a:prstGeom prst="rect">
            <a:avLst/>
          </a:prstGeom>
        </p:spPr>
        <p:txBody>
          <a:bodyPr wrap="square" lIns="0" tIns="0" rIns="0" bIns="0" rtlCol="0" anchor="t">
            <a:spAutoFit/>
          </a:bodyPr>
          <a:lstStyle/>
          <a:p>
            <a:pPr>
              <a:lnSpc>
                <a:spcPts val="3919"/>
              </a:lnSpc>
              <a:spcBef>
                <a:spcPct val="0"/>
              </a:spcBef>
            </a:pPr>
            <a:r>
              <a:rPr lang="en-US" sz="28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Model Performance (Accuracy)</a:t>
            </a:r>
          </a:p>
        </p:txBody>
      </p:sp>
      <p:pic>
        <p:nvPicPr>
          <p:cNvPr id="4" name="תמונה 3">
            <a:extLst>
              <a:ext uri="{FF2B5EF4-FFF2-40B4-BE49-F238E27FC236}">
                <a16:creationId xmlns:a16="http://schemas.microsoft.com/office/drawing/2014/main" id="{DB3E8992-FC53-961B-A43E-5A92F1E64839}"/>
              </a:ext>
            </a:extLst>
          </p:cNvPr>
          <p:cNvPicPr>
            <a:picLocks noChangeAspect="1"/>
          </p:cNvPicPr>
          <p:nvPr/>
        </p:nvPicPr>
        <p:blipFill>
          <a:blip r:embed="rId2"/>
          <a:stretch>
            <a:fillRect/>
          </a:stretch>
        </p:blipFill>
        <p:spPr>
          <a:xfrm>
            <a:off x="15544800" y="220701"/>
            <a:ext cx="2438400" cy="2438400"/>
          </a:xfrm>
          <a:prstGeom prst="rect">
            <a:avLst/>
          </a:prstGeom>
        </p:spPr>
      </p:pic>
      <p:graphicFrame>
        <p:nvGraphicFramePr>
          <p:cNvPr id="5" name="טבלה 4">
            <a:extLst>
              <a:ext uri="{FF2B5EF4-FFF2-40B4-BE49-F238E27FC236}">
                <a16:creationId xmlns:a16="http://schemas.microsoft.com/office/drawing/2014/main" id="{A0C4D747-831A-2007-4126-BD36C02D7EF5}"/>
              </a:ext>
            </a:extLst>
          </p:cNvPr>
          <p:cNvGraphicFramePr>
            <a:graphicFrameLocks noGrp="1"/>
          </p:cNvGraphicFramePr>
          <p:nvPr>
            <p:extLst>
              <p:ext uri="{D42A27DB-BD31-4B8C-83A1-F6EECF244321}">
                <p14:modId xmlns:p14="http://schemas.microsoft.com/office/powerpoint/2010/main" val="2437835308"/>
              </p:ext>
            </p:extLst>
          </p:nvPr>
        </p:nvGraphicFramePr>
        <p:xfrm>
          <a:off x="287594" y="2913649"/>
          <a:ext cx="17983205" cy="2476064"/>
        </p:xfrm>
        <a:graphic>
          <a:graphicData uri="http://schemas.openxmlformats.org/drawingml/2006/table">
            <a:tbl>
              <a:tblPr rtl="1" firstRow="1" bandRow="1">
                <a:tableStyleId>{5C22544A-7EE6-4342-B048-85BDC9FD1C3A}</a:tableStyleId>
              </a:tblPr>
              <a:tblGrid>
                <a:gridCol w="5038208">
                  <a:extLst>
                    <a:ext uri="{9D8B030D-6E8A-4147-A177-3AD203B41FA5}">
                      <a16:colId xmlns:a16="http://schemas.microsoft.com/office/drawing/2014/main" val="4043141790"/>
                    </a:ext>
                  </a:extLst>
                </a:gridCol>
                <a:gridCol w="4862537">
                  <a:extLst>
                    <a:ext uri="{9D8B030D-6E8A-4147-A177-3AD203B41FA5}">
                      <a16:colId xmlns:a16="http://schemas.microsoft.com/office/drawing/2014/main" val="137808335"/>
                    </a:ext>
                  </a:extLst>
                </a:gridCol>
                <a:gridCol w="4535467">
                  <a:extLst>
                    <a:ext uri="{9D8B030D-6E8A-4147-A177-3AD203B41FA5}">
                      <a16:colId xmlns:a16="http://schemas.microsoft.com/office/drawing/2014/main" val="4214491694"/>
                    </a:ext>
                  </a:extLst>
                </a:gridCol>
                <a:gridCol w="3546993">
                  <a:extLst>
                    <a:ext uri="{9D8B030D-6E8A-4147-A177-3AD203B41FA5}">
                      <a16:colId xmlns:a16="http://schemas.microsoft.com/office/drawing/2014/main" val="2838907043"/>
                    </a:ext>
                  </a:extLst>
                </a:gridCol>
              </a:tblGrid>
              <a:tr h="0">
                <a:tc>
                  <a:txBody>
                    <a:bodyPr/>
                    <a:lstStyle/>
                    <a:p>
                      <a:pPr algn="ctr"/>
                      <a:r>
                        <a:rPr lang="en-US" sz="2400" dirty="0">
                          <a:solidFill>
                            <a:schemeClr val="bg1"/>
                          </a:solidFill>
                        </a:rPr>
                        <a:t>Heavy Noise</a:t>
                      </a:r>
                    </a:p>
                  </a:txBody>
                  <a:tcPr anchor="ctr">
                    <a:solidFill>
                      <a:schemeClr val="accent1">
                        <a:lumMod val="50000"/>
                      </a:schemeClr>
                    </a:solidFill>
                  </a:tcPr>
                </a:tc>
                <a:tc>
                  <a:txBody>
                    <a:bodyPr/>
                    <a:lstStyle/>
                    <a:p>
                      <a:pPr algn="ctr"/>
                      <a:r>
                        <a:rPr lang="en-US" sz="2400" dirty="0">
                          <a:solidFill>
                            <a:schemeClr val="bg1"/>
                          </a:solidFill>
                        </a:rPr>
                        <a:t>Medium Noise</a:t>
                      </a:r>
                    </a:p>
                  </a:txBody>
                  <a:tcPr anchor="ctr">
                    <a:solidFill>
                      <a:schemeClr val="accent1">
                        <a:lumMod val="50000"/>
                      </a:schemeClr>
                    </a:solidFill>
                  </a:tcPr>
                </a:tc>
                <a:tc>
                  <a:txBody>
                    <a:bodyPr/>
                    <a:lstStyle/>
                    <a:p>
                      <a:pPr algn="ctr"/>
                      <a:r>
                        <a:rPr lang="en-US" sz="2400" dirty="0"/>
                        <a:t>Clean</a:t>
                      </a:r>
                    </a:p>
                  </a:txBody>
                  <a:tcPr anchor="ctr">
                    <a:solidFill>
                      <a:schemeClr val="accent1">
                        <a:lumMod val="50000"/>
                      </a:schemeClr>
                    </a:solidFill>
                  </a:tcPr>
                </a:tc>
                <a:tc>
                  <a:txBody>
                    <a:bodyPr/>
                    <a:lstStyle/>
                    <a:p>
                      <a:pPr algn="ctr" rtl="1"/>
                      <a:r>
                        <a:rPr lang="en-US" sz="2400" dirty="0"/>
                        <a:t>Model</a:t>
                      </a:r>
                      <a:endParaRPr lang="he-IL" sz="2400" dirty="0"/>
                    </a:p>
                  </a:txBody>
                  <a:tcPr>
                    <a:solidFill>
                      <a:schemeClr val="accent1">
                        <a:lumMod val="50000"/>
                      </a:schemeClr>
                    </a:solidFill>
                  </a:tcPr>
                </a:tc>
                <a:extLst>
                  <a:ext uri="{0D108BD9-81ED-4DB2-BD59-A6C34878D82A}">
                    <a16:rowId xmlns:a16="http://schemas.microsoft.com/office/drawing/2014/main" val="1130359397"/>
                  </a:ext>
                </a:extLst>
              </a:tr>
              <a:tr h="559852">
                <a:tc>
                  <a:txBody>
                    <a:bodyPr/>
                    <a:lstStyle/>
                    <a:p>
                      <a:pPr algn="ctr" rtl="1"/>
                      <a:r>
                        <a:rPr lang="en-US" sz="1800" kern="1200" dirty="0">
                          <a:solidFill>
                            <a:schemeClr val="dk1"/>
                          </a:solidFill>
                          <a:effectLst/>
                          <a:latin typeface="+mn-lt"/>
                          <a:ea typeface="+mn-ea"/>
                          <a:cs typeface="+mn-cs"/>
                        </a:rPr>
                        <a:t>77.5%</a:t>
                      </a:r>
                      <a:endParaRPr lang="he-IL" sz="1800" dirty="0">
                        <a:latin typeface="+mn-lt"/>
                      </a:endParaRPr>
                    </a:p>
                  </a:txBody>
                  <a:tcPr/>
                </a:tc>
                <a:tc>
                  <a:txBody>
                    <a:bodyPr/>
                    <a:lstStyle/>
                    <a:p>
                      <a:pPr algn="ctr" rtl="1"/>
                      <a:r>
                        <a:rPr lang="en-US" sz="1800" kern="1200" dirty="0">
                          <a:solidFill>
                            <a:schemeClr val="dk1"/>
                          </a:solidFill>
                          <a:effectLst/>
                          <a:latin typeface="+mn-lt"/>
                          <a:ea typeface="+mn-ea"/>
                          <a:cs typeface="+mn-cs"/>
                        </a:rPr>
                        <a:t>79.2%</a:t>
                      </a:r>
                      <a:endParaRPr lang="he-IL" sz="1800" dirty="0">
                        <a:latin typeface="+mn-lt"/>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93.8%</a:t>
                      </a:r>
                    </a:p>
                  </a:txBody>
                  <a:tcPr/>
                </a:tc>
                <a:tc>
                  <a:txBody>
                    <a:bodyPr/>
                    <a:lstStyle/>
                    <a:p>
                      <a:pPr algn="ctr"/>
                      <a:r>
                        <a:rPr lang="en-US" sz="2400" b="1" dirty="0">
                          <a:solidFill>
                            <a:schemeClr val="bg1"/>
                          </a:solidFill>
                        </a:rPr>
                        <a:t>Naïve Bayes (Baseline)</a:t>
                      </a:r>
                    </a:p>
                  </a:txBody>
                  <a:tcPr anchor="ctr">
                    <a:solidFill>
                      <a:schemeClr val="accent1">
                        <a:lumMod val="50000"/>
                      </a:schemeClr>
                    </a:solidFill>
                  </a:tcPr>
                </a:tc>
                <a:extLst>
                  <a:ext uri="{0D108BD9-81ED-4DB2-BD59-A6C34878D82A}">
                    <a16:rowId xmlns:a16="http://schemas.microsoft.com/office/drawing/2014/main" val="749502633"/>
                  </a:ext>
                </a:extLst>
              </a:tr>
              <a:tr h="430625">
                <a:tc>
                  <a:txBody>
                    <a:bodyPr/>
                    <a:lstStyle/>
                    <a:p>
                      <a:pPr algn="ctr" rtl="1"/>
                      <a:r>
                        <a:rPr lang="en-US" sz="1800" kern="1200" dirty="0">
                          <a:solidFill>
                            <a:schemeClr val="dk1"/>
                          </a:solidFill>
                          <a:effectLst/>
                          <a:latin typeface="+mn-lt"/>
                          <a:ea typeface="+mn-ea"/>
                          <a:cs typeface="+mn-cs"/>
                        </a:rPr>
                        <a:t>79.2%</a:t>
                      </a:r>
                      <a:endParaRPr lang="he-IL" sz="1800" dirty="0">
                        <a:latin typeface="+mn-lt"/>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86.7%</a:t>
                      </a:r>
                      <a:endParaRPr lang="he-IL" sz="1800" dirty="0">
                        <a:latin typeface="+mn-lt"/>
                      </a:endParaRPr>
                    </a:p>
                  </a:txBody>
                  <a:tcPr/>
                </a:tc>
                <a:tc>
                  <a:txBody>
                    <a:bodyPr/>
                    <a:lstStyle/>
                    <a:p>
                      <a:pPr algn="ctr" rtl="1"/>
                      <a:r>
                        <a:rPr lang="en-US" sz="1800" kern="1200" dirty="0">
                          <a:solidFill>
                            <a:schemeClr val="dk1"/>
                          </a:solidFill>
                          <a:effectLst/>
                          <a:latin typeface="+mn-lt"/>
                          <a:ea typeface="+mn-ea"/>
                          <a:cs typeface="+mn-cs"/>
                        </a:rPr>
                        <a:t>98.3%</a:t>
                      </a:r>
                      <a:endParaRPr lang="he-IL" sz="1800" dirty="0">
                        <a:latin typeface="+mn-lt"/>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2400" b="1" kern="1200" dirty="0">
                          <a:solidFill>
                            <a:schemeClr val="lt1"/>
                          </a:solidFill>
                          <a:latin typeface="+mn-lt"/>
                          <a:ea typeface="+mn-ea"/>
                          <a:cs typeface="+mn-cs"/>
                        </a:rPr>
                        <a:t>BERT</a:t>
                      </a:r>
                      <a:endParaRPr lang="he-IL" sz="2400" b="1" kern="1200" dirty="0">
                        <a:solidFill>
                          <a:schemeClr val="lt1"/>
                        </a:solidFill>
                        <a:latin typeface="+mn-lt"/>
                        <a:ea typeface="+mn-ea"/>
                        <a:cs typeface="+mn-cs"/>
                      </a:endParaRPr>
                    </a:p>
                  </a:txBody>
                  <a:tcPr>
                    <a:solidFill>
                      <a:schemeClr val="accent1">
                        <a:lumMod val="50000"/>
                      </a:schemeClr>
                    </a:solidFill>
                  </a:tcPr>
                </a:tc>
                <a:extLst>
                  <a:ext uri="{0D108BD9-81ED-4DB2-BD59-A6C34878D82A}">
                    <a16:rowId xmlns:a16="http://schemas.microsoft.com/office/drawing/2014/main" val="297336933"/>
                  </a:ext>
                </a:extLst>
              </a:tr>
              <a:tr h="544612">
                <a:tc>
                  <a:txBody>
                    <a:bodyPr/>
                    <a:lstStyle/>
                    <a:p>
                      <a:pPr algn="ctr" rtl="1"/>
                      <a:r>
                        <a:rPr lang="en-US" sz="1800" kern="1200" dirty="0">
                          <a:solidFill>
                            <a:schemeClr val="dk1"/>
                          </a:solidFill>
                          <a:effectLst/>
                          <a:latin typeface="+mn-lt"/>
                          <a:ea typeface="+mn-ea"/>
                          <a:cs typeface="+mn-cs"/>
                        </a:rPr>
                        <a:t>86.2%</a:t>
                      </a:r>
                      <a:endParaRPr lang="he-IL" sz="1800" dirty="0">
                        <a:latin typeface="+mn-lt"/>
                      </a:endParaRPr>
                    </a:p>
                  </a:txBody>
                  <a:tcPr/>
                </a:tc>
                <a:tc>
                  <a:txBody>
                    <a:bodyPr/>
                    <a:lstStyle/>
                    <a:p>
                      <a:pPr algn="ctr" rtl="1"/>
                      <a:r>
                        <a:rPr lang="en-US" sz="1800" kern="1200" dirty="0">
                          <a:solidFill>
                            <a:schemeClr val="dk1"/>
                          </a:solidFill>
                          <a:effectLst/>
                          <a:latin typeface="+mn-lt"/>
                          <a:ea typeface="+mn-ea"/>
                          <a:cs typeface="+mn-cs"/>
                        </a:rPr>
                        <a:t>83.8%</a:t>
                      </a:r>
                      <a:endParaRPr lang="he-IL" sz="1800" u="none" dirty="0">
                        <a:latin typeface="+mn-lt"/>
                      </a:endParaRPr>
                    </a:p>
                  </a:txBody>
                  <a:tcPr/>
                </a:tc>
                <a:tc>
                  <a:txBody>
                    <a:bodyPr/>
                    <a:lstStyle/>
                    <a:p>
                      <a:pPr algn="ctr" rtl="1"/>
                      <a:r>
                        <a:rPr lang="en-US" sz="1800" kern="1200" dirty="0">
                          <a:solidFill>
                            <a:schemeClr val="dk1"/>
                          </a:solidFill>
                          <a:effectLst/>
                          <a:latin typeface="+mn-lt"/>
                          <a:ea typeface="+mn-ea"/>
                          <a:cs typeface="+mn-cs"/>
                        </a:rPr>
                        <a:t>97.9%</a:t>
                      </a:r>
                      <a:endParaRPr lang="he-IL" sz="1800" dirty="0">
                        <a:latin typeface="+mn-lt"/>
                      </a:endParaRPr>
                    </a:p>
                  </a:txBody>
                  <a:tcPr/>
                </a:tc>
                <a:tc>
                  <a:txBody>
                    <a:bodyPr/>
                    <a:lstStyle/>
                    <a:p>
                      <a:pPr marL="0" algn="ctr" defTabSz="914400" rtl="1" eaLnBrk="1" latinLnBrk="0" hangingPunct="1"/>
                      <a:r>
                        <a:rPr lang="en-US" sz="2400" b="1" kern="1200" dirty="0" err="1">
                          <a:solidFill>
                            <a:schemeClr val="lt1"/>
                          </a:solidFill>
                          <a:latin typeface="+mn-lt"/>
                          <a:ea typeface="+mn-ea"/>
                          <a:cs typeface="+mn-cs"/>
                        </a:rPr>
                        <a:t>ClinicalBERT</a:t>
                      </a:r>
                      <a:endParaRPr lang="he-IL" sz="2400" b="1" kern="1200" dirty="0">
                        <a:solidFill>
                          <a:schemeClr val="lt1"/>
                        </a:solidFill>
                        <a:latin typeface="+mn-lt"/>
                        <a:ea typeface="+mn-ea"/>
                        <a:cs typeface="+mn-cs"/>
                      </a:endParaRPr>
                    </a:p>
                  </a:txBody>
                  <a:tcPr>
                    <a:solidFill>
                      <a:schemeClr val="accent1">
                        <a:lumMod val="50000"/>
                      </a:schemeClr>
                    </a:solidFill>
                  </a:tcPr>
                </a:tc>
                <a:extLst>
                  <a:ext uri="{0D108BD9-81ED-4DB2-BD59-A6C34878D82A}">
                    <a16:rowId xmlns:a16="http://schemas.microsoft.com/office/drawing/2014/main" val="2479013382"/>
                  </a:ext>
                </a:extLst>
              </a:tr>
              <a:tr h="0">
                <a:tc>
                  <a:txBody>
                    <a:bodyPr/>
                    <a:lstStyle/>
                    <a:p>
                      <a:pPr algn="ctr" rtl="1"/>
                      <a:r>
                        <a:rPr lang="en-US" sz="1800" kern="1200" dirty="0">
                          <a:solidFill>
                            <a:schemeClr val="dk1"/>
                          </a:solidFill>
                          <a:effectLst/>
                          <a:latin typeface="+mn-lt"/>
                          <a:ea typeface="+mn-ea"/>
                          <a:cs typeface="+mn-cs"/>
                        </a:rPr>
                        <a:t>87.1%</a:t>
                      </a:r>
                      <a:endParaRPr lang="he-IL" sz="1800" dirty="0">
                        <a:latin typeface="+mn-lt"/>
                      </a:endParaRPr>
                    </a:p>
                  </a:txBody>
                  <a:tcPr/>
                </a:tc>
                <a:tc>
                  <a:txBody>
                    <a:bodyPr/>
                    <a:lstStyle/>
                    <a:p>
                      <a:pPr algn="ctr" rtl="1"/>
                      <a:r>
                        <a:rPr lang="en-US" sz="1800" kern="1200" dirty="0">
                          <a:solidFill>
                            <a:schemeClr val="dk1"/>
                          </a:solidFill>
                          <a:effectLst/>
                          <a:latin typeface="+mn-lt"/>
                          <a:ea typeface="+mn-ea"/>
                          <a:cs typeface="+mn-cs"/>
                        </a:rPr>
                        <a:t>92.5%</a:t>
                      </a:r>
                      <a:endParaRPr lang="he-IL" sz="1800" dirty="0">
                        <a:latin typeface="+mn-lt"/>
                      </a:endParaRPr>
                    </a:p>
                  </a:txBody>
                  <a:tcPr/>
                </a:tc>
                <a:tc>
                  <a:txBody>
                    <a:bodyPr/>
                    <a:lstStyle/>
                    <a:p>
                      <a:pPr algn="ctr" rtl="1"/>
                      <a:r>
                        <a:rPr lang="en-US" sz="1800" kern="1200" dirty="0">
                          <a:solidFill>
                            <a:schemeClr val="dk1"/>
                          </a:solidFill>
                          <a:effectLst/>
                          <a:latin typeface="+mn-lt"/>
                          <a:ea typeface="+mn-ea"/>
                          <a:cs typeface="+mn-cs"/>
                        </a:rPr>
                        <a:t>97.1%</a:t>
                      </a:r>
                      <a:endParaRPr lang="he-IL" sz="1800" dirty="0">
                        <a:latin typeface="+mn-lt"/>
                      </a:endParaRPr>
                    </a:p>
                  </a:txBody>
                  <a:tcPr/>
                </a:tc>
                <a:tc>
                  <a:txBody>
                    <a:bodyPr/>
                    <a:lstStyle/>
                    <a:p>
                      <a:pPr algn="ctr"/>
                      <a:r>
                        <a:rPr lang="en-US" sz="2400" b="1" dirty="0">
                          <a:solidFill>
                            <a:schemeClr val="bg1"/>
                          </a:solidFill>
                        </a:rPr>
                        <a:t>FLAN-T5</a:t>
                      </a:r>
                    </a:p>
                  </a:txBody>
                  <a:tcPr anchor="ctr">
                    <a:solidFill>
                      <a:schemeClr val="accent1">
                        <a:lumMod val="50000"/>
                      </a:schemeClr>
                    </a:solidFill>
                  </a:tcPr>
                </a:tc>
                <a:extLst>
                  <a:ext uri="{0D108BD9-81ED-4DB2-BD59-A6C34878D82A}">
                    <a16:rowId xmlns:a16="http://schemas.microsoft.com/office/drawing/2014/main" val="2537694461"/>
                  </a:ext>
                </a:extLst>
              </a:tr>
            </a:tbl>
          </a:graphicData>
        </a:graphic>
      </p:graphicFrame>
      <p:sp>
        <p:nvSpPr>
          <p:cNvPr id="6" name="TextBox 8">
            <a:extLst>
              <a:ext uri="{FF2B5EF4-FFF2-40B4-BE49-F238E27FC236}">
                <a16:creationId xmlns:a16="http://schemas.microsoft.com/office/drawing/2014/main" id="{ED363567-A762-A7CC-0F3A-A3FCE966061F}"/>
              </a:ext>
            </a:extLst>
          </p:cNvPr>
          <p:cNvSpPr txBox="1"/>
          <p:nvPr/>
        </p:nvSpPr>
        <p:spPr>
          <a:xfrm>
            <a:off x="287594" y="5514926"/>
            <a:ext cx="17828341" cy="4470968"/>
          </a:xfrm>
          <a:prstGeom prst="rect">
            <a:avLst/>
          </a:prstGeom>
        </p:spPr>
        <p:txBody>
          <a:bodyPr wrap="square" lIns="0" tIns="0" rIns="0" bIns="0" rtlCol="0" anchor="t">
            <a:spAutoFit/>
          </a:bodyPr>
          <a:lstStyle/>
          <a:p>
            <a:pPr>
              <a:lnSpc>
                <a:spcPts val="3919"/>
              </a:lnSpc>
              <a:spcBef>
                <a:spcPct val="0"/>
              </a:spcBef>
            </a:pPr>
            <a:r>
              <a:rPr lang="en-US" sz="28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Insights from Data:</a:t>
            </a:r>
          </a:p>
          <a:p>
            <a:pPr marL="457200" indent="-457200">
              <a:lnSpc>
                <a:spcPts val="3919"/>
              </a:lnSpc>
              <a:spcBef>
                <a:spcPct val="0"/>
              </a:spcBef>
              <a:buFont typeface="Arial" panose="020B0604020202020204" pitchFamily="34" charset="0"/>
              <a:buChar char="•"/>
            </a:pPr>
            <a:r>
              <a:rPr lang="en-US" sz="280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Noise Effect: Accuracy drops with noise.</a:t>
            </a:r>
          </a:p>
          <a:p>
            <a:pPr marL="457200" indent="-457200">
              <a:lnSpc>
                <a:spcPts val="3919"/>
              </a:lnSpc>
              <a:spcBef>
                <a:spcPct val="0"/>
              </a:spcBef>
              <a:buFont typeface="Arial" panose="020B0604020202020204" pitchFamily="34" charset="0"/>
              <a:buChar char="•"/>
            </a:pPr>
            <a:r>
              <a:rPr lang="en-US" sz="280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Clinical Bert anomaly: After a sharp drop in moderate noise (83.8%), its accuracy increases to 86.2% under heavy noise  (a possible reason for this is the repetition of clinical terms in longer, noisier texts).</a:t>
            </a:r>
          </a:p>
          <a:p>
            <a:pPr marL="457200" indent="-457200">
              <a:lnSpc>
                <a:spcPts val="3919"/>
              </a:lnSpc>
              <a:spcBef>
                <a:spcPct val="0"/>
              </a:spcBef>
              <a:buFont typeface="Arial" panose="020B0604020202020204" pitchFamily="34" charset="0"/>
              <a:buChar char="•"/>
            </a:pPr>
            <a:r>
              <a:rPr lang="en-US" sz="280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Model Comparison: Naïve Bayes, as a baseline with no deep language understanding, showed the sharpest decline under noise, while BERT led on clean data and was overtaken by </a:t>
            </a:r>
            <a:r>
              <a:rPr lang="en-US" sz="2800" dirty="0" err="1">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ClinicalBERT</a:t>
            </a:r>
            <a:r>
              <a:rPr lang="en-US" sz="280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 and FLAN-T5 as noise increased, with FLAN-T5 achieving the best overall accuracy under noisy conditions.</a:t>
            </a:r>
            <a:endParaRPr lang="en-US" sz="28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ctr">
              <a:lnSpc>
                <a:spcPts val="3919"/>
              </a:lnSpc>
              <a:spcBef>
                <a:spcPct val="0"/>
              </a:spcBef>
            </a:pPr>
            <a:r>
              <a:rPr lang="en-US" sz="28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These results highlight the importance of choosing the right model for complex medical tasks, as well as to invest in designing training methods</a:t>
            </a:r>
          </a:p>
        </p:txBody>
      </p:sp>
    </p:spTree>
    <p:extLst>
      <p:ext uri="{BB962C8B-B14F-4D97-AF65-F5344CB8AC3E}">
        <p14:creationId xmlns:p14="http://schemas.microsoft.com/office/powerpoint/2010/main" val="1557494111"/>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alpha val="75000"/>
          </a:schemeClr>
        </a:solidFill>
        <a:effectLst/>
      </p:bgPr>
    </p:bg>
    <p:spTree>
      <p:nvGrpSpPr>
        <p:cNvPr id="1" name="">
          <a:extLst>
            <a:ext uri="{FF2B5EF4-FFF2-40B4-BE49-F238E27FC236}">
              <a16:creationId xmlns:a16="http://schemas.microsoft.com/office/drawing/2014/main" id="{9C880F44-FECF-A6A9-CD8A-D6F5D83D6627}"/>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BAF8C66F-8315-C872-55F4-B7CD65A7042F}"/>
              </a:ext>
            </a:extLst>
          </p:cNvPr>
          <p:cNvSpPr txBox="1"/>
          <p:nvPr/>
        </p:nvSpPr>
        <p:spPr>
          <a:xfrm>
            <a:off x="1828800" y="647700"/>
            <a:ext cx="14630399" cy="1407629"/>
          </a:xfrm>
          <a:prstGeom prst="rect">
            <a:avLst/>
          </a:prstGeom>
        </p:spPr>
        <p:txBody>
          <a:bodyPr wrap="square" lIns="0" tIns="0" rIns="0" bIns="0" rtlCol="0" anchor="t">
            <a:spAutoFit/>
          </a:bodyPr>
          <a:lstStyle/>
          <a:p>
            <a:pPr algn="ctr">
              <a:lnSpc>
                <a:spcPts val="11747"/>
              </a:lnSpc>
              <a:spcBef>
                <a:spcPct val="0"/>
              </a:spcBef>
            </a:pPr>
            <a:r>
              <a:rPr lang="en-US" sz="8391" dirty="0">
                <a:solidFill>
                  <a:schemeClr val="accent1">
                    <a:lumMod val="50000"/>
                  </a:schemeClr>
                </a:solidFill>
                <a:latin typeface="Anton"/>
                <a:ea typeface="Anton"/>
                <a:cs typeface="Anton"/>
                <a:sym typeface="Anton"/>
              </a:rPr>
              <a:t>Visual Abstract</a:t>
            </a:r>
          </a:p>
        </p:txBody>
      </p:sp>
      <p:pic>
        <p:nvPicPr>
          <p:cNvPr id="5" name="תמונה 4">
            <a:extLst>
              <a:ext uri="{FF2B5EF4-FFF2-40B4-BE49-F238E27FC236}">
                <a16:creationId xmlns:a16="http://schemas.microsoft.com/office/drawing/2014/main" id="{F4FE8302-EB56-DC73-BEB1-AF6ABDA83508}"/>
              </a:ext>
            </a:extLst>
          </p:cNvPr>
          <p:cNvPicPr>
            <a:picLocks noChangeAspect="1"/>
          </p:cNvPicPr>
          <p:nvPr/>
        </p:nvPicPr>
        <p:blipFill>
          <a:blip r:embed="rId2">
            <a:extLst>
              <a:ext uri="{28A0092B-C50C-407E-A947-70E740481C1C}">
                <a14:useLocalDpi xmlns:a14="http://schemas.microsoft.com/office/drawing/2010/main" val="0"/>
              </a:ext>
            </a:extLst>
          </a:blip>
          <a:srcRect r="13603"/>
          <a:stretch/>
        </p:blipFill>
        <p:spPr>
          <a:xfrm>
            <a:off x="1366207" y="2476500"/>
            <a:ext cx="15555583" cy="6858957"/>
          </a:xfrm>
          <a:prstGeom prst="rect">
            <a:avLst/>
          </a:prstGeom>
        </p:spPr>
      </p:pic>
    </p:spTree>
    <p:extLst>
      <p:ext uri="{BB962C8B-B14F-4D97-AF65-F5344CB8AC3E}">
        <p14:creationId xmlns:p14="http://schemas.microsoft.com/office/powerpoint/2010/main" val="2373528491"/>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alpha val="75000"/>
          </a:schemeClr>
        </a:solidFill>
        <a:effectLst/>
      </p:bgPr>
    </p:bg>
    <p:spTree>
      <p:nvGrpSpPr>
        <p:cNvPr id="1" name="">
          <a:extLst>
            <a:ext uri="{FF2B5EF4-FFF2-40B4-BE49-F238E27FC236}">
              <a16:creationId xmlns:a16="http://schemas.microsoft.com/office/drawing/2014/main" id="{640B79C7-098F-1A19-2DFB-64B7387544FB}"/>
            </a:ext>
          </a:extLst>
        </p:cNvPr>
        <p:cNvGrpSpPr/>
        <p:nvPr/>
      </p:nvGrpSpPr>
      <p:grpSpPr>
        <a:xfrm>
          <a:off x="0" y="0"/>
          <a:ext cx="0" cy="0"/>
          <a:chOff x="0" y="0"/>
          <a:chExt cx="0" cy="0"/>
        </a:xfrm>
      </p:grpSpPr>
      <p:sp>
        <p:nvSpPr>
          <p:cNvPr id="4" name="TextBox 5">
            <a:extLst>
              <a:ext uri="{FF2B5EF4-FFF2-40B4-BE49-F238E27FC236}">
                <a16:creationId xmlns:a16="http://schemas.microsoft.com/office/drawing/2014/main" id="{116B2822-2DDA-16AE-FCC9-E74B210A5F28}"/>
              </a:ext>
            </a:extLst>
          </p:cNvPr>
          <p:cNvSpPr txBox="1"/>
          <p:nvPr/>
        </p:nvSpPr>
        <p:spPr>
          <a:xfrm>
            <a:off x="6477000" y="3238500"/>
            <a:ext cx="13323421" cy="1500411"/>
          </a:xfrm>
          <a:prstGeom prst="rect">
            <a:avLst/>
          </a:prstGeom>
        </p:spPr>
        <p:txBody>
          <a:bodyPr wrap="square" lIns="0" tIns="0" rIns="0" bIns="0" rtlCol="0" anchor="t">
            <a:spAutoFit/>
          </a:bodyPr>
          <a:lstStyle/>
          <a:p>
            <a:pPr algn="ctr">
              <a:lnSpc>
                <a:spcPts val="11747"/>
              </a:lnSpc>
              <a:spcBef>
                <a:spcPct val="0"/>
              </a:spcBef>
            </a:pPr>
            <a:r>
              <a:rPr lang="en-US" sz="10000" dirty="0">
                <a:solidFill>
                  <a:schemeClr val="accent1">
                    <a:lumMod val="50000"/>
                  </a:schemeClr>
                </a:solidFill>
                <a:latin typeface="Anton"/>
                <a:ea typeface="Anton"/>
                <a:cs typeface="Anton"/>
                <a:sym typeface="Anton"/>
              </a:rPr>
              <a:t>Thank you!</a:t>
            </a:r>
          </a:p>
        </p:txBody>
      </p:sp>
      <p:pic>
        <p:nvPicPr>
          <p:cNvPr id="6" name="תמונה 5">
            <a:extLst>
              <a:ext uri="{FF2B5EF4-FFF2-40B4-BE49-F238E27FC236}">
                <a16:creationId xmlns:a16="http://schemas.microsoft.com/office/drawing/2014/main" id="{47DC2D71-4A8E-3C73-E944-449D0DE551D9}"/>
              </a:ext>
            </a:extLst>
          </p:cNvPr>
          <p:cNvPicPr>
            <a:picLocks noChangeAspect="1"/>
          </p:cNvPicPr>
          <p:nvPr/>
        </p:nvPicPr>
        <p:blipFill>
          <a:blip r:embed="rId2"/>
          <a:stretch>
            <a:fillRect/>
          </a:stretch>
        </p:blipFill>
        <p:spPr>
          <a:xfrm>
            <a:off x="1506997" y="-1"/>
            <a:ext cx="7637003" cy="10287000"/>
          </a:xfrm>
          <a:prstGeom prst="rect">
            <a:avLst/>
          </a:prstGeom>
        </p:spPr>
      </p:pic>
      <p:pic>
        <p:nvPicPr>
          <p:cNvPr id="2" name="Picture 2" descr="Generated image">
            <a:extLst>
              <a:ext uri="{FF2B5EF4-FFF2-40B4-BE49-F238E27FC236}">
                <a16:creationId xmlns:a16="http://schemas.microsoft.com/office/drawing/2014/main" id="{7B82ECA6-5254-D280-E424-0A2B1FE7245C}"/>
              </a:ext>
            </a:extLst>
          </p:cNvPr>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ackgroundRemoval t="12305" b="85254" l="5176" r="93359">
                        <a14:foregroundMark x1="21387" y1="15332" x2="34766" y2="12402"/>
                        <a14:foregroundMark x1="34766" y1="12402" x2="40039" y2="13867"/>
                        <a14:foregroundMark x1="81152" y1="27344" x2="83008" y2="31055"/>
                        <a14:foregroundMark x1="59180" y1="26563" x2="57617" y2="29590"/>
                        <a14:foregroundMark x1="59473" y1="58301" x2="77930" y2="62891"/>
                        <a14:foregroundMark x1="77930" y1="62891" x2="84375" y2="73145"/>
                        <a14:foregroundMark x1="84375" y1="73145" x2="71094" y2="79004"/>
                        <a14:foregroundMark x1="63089" y1="79874" x2="62109" y2="79980"/>
                        <a14:foregroundMark x1="71094" y1="79004" x2="65572" y2="79604"/>
                        <a14:foregroundMark x1="59180" y1="55273" x2="64160" y2="66406"/>
                        <a14:foregroundMark x1="64160" y1="66406" x2="77246" y2="75879"/>
                        <a14:foregroundMark x1="77246" y1="75879" x2="87891" y2="62500"/>
                        <a14:foregroundMark x1="87891" y1="62500" x2="63379" y2="71191"/>
                        <a14:foregroundMark x1="63379" y1="71191" x2="83301" y2="61719"/>
                        <a14:foregroundMark x1="83301" y1="61719" x2="85547" y2="76660"/>
                        <a14:foregroundMark x1="85547" y1="76660" x2="84863" y2="79590"/>
                        <a14:foregroundMark x1="52734" y1="57910" x2="66895" y2="54395"/>
                        <a14:foregroundMark x1="66895" y1="54395" x2="82422" y2="56738"/>
                        <a14:foregroundMark x1="82422" y1="56738" x2="89160" y2="76465"/>
                        <a14:foregroundMark x1="89160" y1="76465" x2="73242" y2="82031"/>
                        <a14:foregroundMark x1="63056" y1="81812" x2="55078" y2="81641"/>
                        <a14:foregroundMark x1="73242" y1="82031" x2="67090" y2="81899"/>
                        <a14:foregroundMark x1="55078" y1="81641" x2="53125" y2="59473"/>
                        <a14:foregroundMark x1="53125" y1="59473" x2="32422" y2="56445"/>
                        <a14:foregroundMark x1="32422" y1="56445" x2="12988" y2="60156"/>
                        <a14:foregroundMark x1="12988" y1="60156" x2="6445" y2="76270"/>
                        <a14:foregroundMark x1="6445" y1="76270" x2="19141" y2="84473"/>
                        <a14:foregroundMark x1="19141" y1="84473" x2="52246" y2="82129"/>
                        <a14:foregroundMark x1="52246" y1="82129" x2="52441" y2="80762"/>
                        <a14:foregroundMark x1="76660" y1="52344" x2="92383" y2="82617"/>
                        <a14:foregroundMark x1="18457" y1="54590" x2="7422" y2="76367"/>
                        <a14:foregroundMark x1="7422" y1="76367" x2="6836" y2="81836"/>
                        <a14:foregroundMark x1="16211" y1="55664" x2="43848" y2="52734"/>
                        <a14:foregroundMark x1="23633" y1="51953" x2="15820" y2="54980"/>
                        <a14:foregroundMark x1="18750" y1="62793" x2="49805" y2="67285"/>
                        <a14:foregroundMark x1="50586" y1="66113" x2="49414" y2="79492"/>
                        <a14:foregroundMark x1="49414" y1="79492" x2="13281" y2="84473"/>
                        <a14:foregroundMark x1="13281" y1="84473" x2="9082" y2="83691"/>
                        <a14:foregroundMark x1="52051" y1="81055" x2="53125" y2="82617"/>
                        <a14:foregroundMark x1="52734" y1="83301" x2="37793" y2="83691"/>
                        <a14:foregroundMark x1="5371" y1="83691" x2="49681" y2="84042"/>
                        <a14:foregroundMark x1="42676" y1="78125" x2="42676" y2="78125"/>
                        <a14:foregroundMark x1="43457" y1="76660" x2="43848" y2="74023"/>
                        <a14:foregroundMark x1="46777" y1="77734" x2="41602" y2="76660"/>
                        <a14:foregroundMark x1="3809" y1="84473" x2="35547" y2="84668"/>
                        <a14:foregroundMark x1="35547" y1="84668" x2="47754" y2="83008"/>
                        <a14:foregroundMark x1="57946" y1="84154" x2="58510" y2="84217"/>
                        <a14:foregroundMark x1="47754" y1="83008" x2="55527" y2="83882"/>
                        <a14:foregroundMark x1="68708" y1="84345" x2="80176" y2="83008"/>
                        <a14:foregroundMark x1="80176" y1="83008" x2="93457" y2="83691"/>
                        <a14:foregroundMark x1="22168" y1="62793" x2="24805" y2="78125"/>
                        <a14:foregroundMark x1="38574" y1="83691" x2="48611" y2="84336"/>
                        <a14:foregroundMark x1="37793" y1="83691" x2="46094" y2="84082"/>
                        <a14:foregroundMark x1="38184" y1="85254" x2="46777" y2="84473"/>
                        <a14:foregroundMark x1="31836" y1="40723" x2="32227" y2="42285"/>
                        <a14:foregroundMark x1="35547" y1="39258" x2="33398" y2="39648"/>
                        <a14:foregroundMark x1="48340" y1="84082" x2="55987" y2="84603"/>
                        <a14:foregroundMark x1="63965" y1="82227" x2="64746" y2="83008"/>
                        <a14:foregroundMark x1="63281" y1="80762" x2="65527" y2="84082"/>
                        <a14:foregroundMark x1="67383" y1="80762" x2="63574" y2="79980"/>
                        <a14:foregroundMark x1="65137" y1="82227" x2="67773" y2="83691"/>
                        <a14:foregroundMark x1="48340" y1="83691" x2="53516" y2="85254"/>
                        <a14:foregroundMark x1="35547" y1="84082" x2="37500" y2="84863"/>
                        <a14:foregroundMark x1="47559" y1="84863" x2="49805" y2="84863"/>
                        <a14:foregroundMark x1="49414" y1="84863" x2="50879" y2="85254"/>
                        <a14:foregroundMark x1="43848" y1="84863" x2="46094" y2="84863"/>
                        <a14:backgroundMark x1="52051" y1="89355" x2="64696" y2="86304"/>
                        <a14:backgroundMark x1="49733" y1="85623" x2="47168" y2="86328"/>
                        <a14:backgroundMark x1="66901" y1="84620" x2="67773" y2="85938"/>
                        <a14:backgroundMark x1="65137" y1="85254" x2="67383" y2="85547"/>
                        <a14:backgroundMark x1="66748" y1="84783" x2="67383" y2="85254"/>
                        <a14:backgroundMark x1="62500" y1="85938" x2="62500" y2="85938"/>
                        <a14:backgroundMark x1="59863" y1="84863" x2="69238" y2="86328"/>
                        <a14:backgroundMark x1="58789" y1="85547" x2="66211" y2="85547"/>
                        <a14:backgroundMark x1="58398" y1="85254" x2="58789" y2="85254"/>
                        <a14:backgroundMark x1="59473" y1="85547" x2="66211" y2="86328"/>
                        <a14:backgroundMark x1="58398" y1="84863" x2="56152" y2="84863"/>
                      </a14:backgroundRemoval>
                    </a14:imgEffect>
                  </a14:imgLayer>
                </a14:imgProps>
              </a:ext>
              <a:ext uri="{28A0092B-C50C-407E-A947-70E740481C1C}">
                <a14:useLocalDpi xmlns:a14="http://schemas.microsoft.com/office/drawing/2010/main" val="0"/>
              </a:ext>
            </a:extLst>
          </a:blip>
          <a:srcRect l="2344" t="7997" r="2344" b="14659"/>
          <a:stretch/>
        </p:blipFill>
        <p:spPr bwMode="auto">
          <a:xfrm>
            <a:off x="11257473" y="4738911"/>
            <a:ext cx="3762473" cy="3053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9020929"/>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9131</TotalTime>
  <Words>1574</Words>
  <Application>Microsoft Office PowerPoint</Application>
  <PresentationFormat>מותאם אישית</PresentationFormat>
  <Paragraphs>117</Paragraphs>
  <Slides>13</Slides>
  <Notes>0</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13</vt:i4>
      </vt:variant>
    </vt:vector>
  </HeadingPairs>
  <TitlesOfParts>
    <vt:vector size="19" baseType="lpstr">
      <vt:lpstr>Canva Sans</vt:lpstr>
      <vt:lpstr>Canva Sans Bold</vt:lpstr>
      <vt:lpstr>Anton</vt:lpstr>
      <vt:lpstr>Arial</vt:lpstr>
      <vt:lpstr>Calibri</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Simple Professional Data Analysis Presentation</dc:title>
  <cp:lastModifiedBy>ליאל שרי</cp:lastModifiedBy>
  <cp:revision>32</cp:revision>
  <dcterms:created xsi:type="dcterms:W3CDTF">2006-08-16T00:00:00Z</dcterms:created>
  <dcterms:modified xsi:type="dcterms:W3CDTF">2025-06-03T08:42:42Z</dcterms:modified>
  <dc:identifier>DAGg8zuIlnw</dc:identifier>
</cp:coreProperties>
</file>